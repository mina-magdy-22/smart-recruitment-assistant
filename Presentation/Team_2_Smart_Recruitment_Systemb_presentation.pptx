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9" r:id="rId4"/>
    <p:sldId id="266" r:id="rId5"/>
    <p:sldId id="268" r:id="rId6"/>
    <p:sldId id="261" r:id="rId7"/>
    <p:sldId id="276" r:id="rId8"/>
    <p:sldId id="262" r:id="rId9"/>
    <p:sldId id="265" r:id="rId10"/>
    <p:sldId id="267" r:id="rId11"/>
    <p:sldId id="275" r:id="rId12"/>
  </p:sldIdLst>
  <p:sldSz cx="18288000" cy="10287000"/>
  <p:notesSz cx="6858000" cy="9144000"/>
  <p:embeddedFontLst>
    <p:embeddedFont>
      <p:font typeface="Comic Sans MS" panose="030F0702030302020204" pitchFamily="66" charset="0"/>
      <p:regular r:id="rId13"/>
      <p:bold r:id="rId14"/>
      <p:italic r:id="rId15"/>
      <p:boldItalic r:id="rId16"/>
    </p:embeddedFont>
    <p:embeddedFont>
      <p:font typeface="HK Grotesk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E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73" d="100"/>
          <a:sy n="73" d="100"/>
        </p:scale>
        <p:origin x="8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Freeform 2"/>
          <p:cNvSpPr/>
          <p:nvPr/>
        </p:nvSpPr>
        <p:spPr>
          <a:xfrm>
            <a:off x="0" y="5143500"/>
            <a:ext cx="4139057" cy="5019152"/>
          </a:xfrm>
          <a:custGeom>
            <a:avLst/>
            <a:gdLst/>
            <a:ahLst/>
            <a:cxnLst/>
            <a:rect l="l" t="t" r="r" b="b"/>
            <a:pathLst>
              <a:path w="4139057" h="5019152">
                <a:moveTo>
                  <a:pt x="0" y="0"/>
                </a:moveTo>
                <a:lnTo>
                  <a:pt x="4139057" y="0"/>
                </a:lnTo>
                <a:lnTo>
                  <a:pt x="4139057" y="5019152"/>
                </a:lnTo>
                <a:lnTo>
                  <a:pt x="0" y="5019152"/>
                </a:lnTo>
                <a:lnTo>
                  <a:pt x="0" y="0"/>
                </a:lnTo>
                <a:close/>
              </a:path>
            </a:pathLst>
          </a:custGeom>
          <a:blipFill>
            <a:blip r:embed="rId2"/>
            <a:stretch>
              <a:fillRect/>
            </a:stretch>
          </a:blipFill>
        </p:spPr>
        <p:txBody>
          <a:bodyPr/>
          <a:lstStyle/>
          <a:p>
            <a:endParaRPr lang="en-US"/>
          </a:p>
        </p:txBody>
      </p:sp>
      <p:sp>
        <p:nvSpPr>
          <p:cNvPr id="3" name="Freeform 3"/>
          <p:cNvSpPr/>
          <p:nvPr/>
        </p:nvSpPr>
        <p:spPr>
          <a:xfrm flipH="1" flipV="1">
            <a:off x="14046398" y="0"/>
            <a:ext cx="4241602" cy="5143500"/>
          </a:xfrm>
          <a:custGeom>
            <a:avLst/>
            <a:gdLst/>
            <a:ahLst/>
            <a:cxnLst/>
            <a:rect l="l" t="t" r="r" b="b"/>
            <a:pathLst>
              <a:path w="4241602" h="5143500">
                <a:moveTo>
                  <a:pt x="4241602" y="5143500"/>
                </a:moveTo>
                <a:lnTo>
                  <a:pt x="0" y="5143500"/>
                </a:lnTo>
                <a:lnTo>
                  <a:pt x="0" y="0"/>
                </a:lnTo>
                <a:lnTo>
                  <a:pt x="4241602" y="0"/>
                </a:lnTo>
                <a:lnTo>
                  <a:pt x="4241602" y="5143500"/>
                </a:lnTo>
                <a:close/>
              </a:path>
            </a:pathLst>
          </a:custGeom>
          <a:blipFill>
            <a:blip r:embed="rId2"/>
            <a:stretch>
              <a:fillRect/>
            </a:stretch>
          </a:blipFill>
        </p:spPr>
        <p:txBody>
          <a:bodyPr/>
          <a:lstStyle/>
          <a:p>
            <a:endParaRPr lang="en-US"/>
          </a:p>
        </p:txBody>
      </p:sp>
      <p:grpSp>
        <p:nvGrpSpPr>
          <p:cNvPr id="4" name="Group 4"/>
          <p:cNvGrpSpPr/>
          <p:nvPr/>
        </p:nvGrpSpPr>
        <p:grpSpPr>
          <a:xfrm>
            <a:off x="3321020" y="2846824"/>
            <a:ext cx="11966252" cy="4989007"/>
            <a:chOff x="0" y="0"/>
            <a:chExt cx="3151606" cy="1313977"/>
          </a:xfrm>
        </p:grpSpPr>
        <p:sp>
          <p:nvSpPr>
            <p:cNvPr id="5" name="Freeform 5"/>
            <p:cNvSpPr/>
            <p:nvPr/>
          </p:nvSpPr>
          <p:spPr>
            <a:xfrm>
              <a:off x="0" y="0"/>
              <a:ext cx="3151605" cy="1313977"/>
            </a:xfrm>
            <a:custGeom>
              <a:avLst/>
              <a:gdLst/>
              <a:ahLst/>
              <a:cxnLst/>
              <a:rect l="l" t="t" r="r" b="b"/>
              <a:pathLst>
                <a:path w="3151605" h="1313977">
                  <a:moveTo>
                    <a:pt x="21350" y="0"/>
                  </a:moveTo>
                  <a:lnTo>
                    <a:pt x="3130255" y="0"/>
                  </a:lnTo>
                  <a:cubicBezTo>
                    <a:pt x="3135918" y="0"/>
                    <a:pt x="3141348" y="2249"/>
                    <a:pt x="3145352" y="6253"/>
                  </a:cubicBezTo>
                  <a:cubicBezTo>
                    <a:pt x="3149356" y="10257"/>
                    <a:pt x="3151605" y="15688"/>
                    <a:pt x="3151605" y="21350"/>
                  </a:cubicBezTo>
                  <a:lnTo>
                    <a:pt x="3151605" y="1292627"/>
                  </a:lnTo>
                  <a:cubicBezTo>
                    <a:pt x="3151605" y="1298289"/>
                    <a:pt x="3149356" y="1303720"/>
                    <a:pt x="3145352" y="1307724"/>
                  </a:cubicBezTo>
                  <a:cubicBezTo>
                    <a:pt x="3141348" y="1311728"/>
                    <a:pt x="3135918" y="1313977"/>
                    <a:pt x="3130255" y="1313977"/>
                  </a:cubicBezTo>
                  <a:lnTo>
                    <a:pt x="21350" y="1313977"/>
                  </a:lnTo>
                  <a:cubicBezTo>
                    <a:pt x="9559" y="1313977"/>
                    <a:pt x="0" y="1304418"/>
                    <a:pt x="0" y="1292627"/>
                  </a:cubicBezTo>
                  <a:lnTo>
                    <a:pt x="0" y="21350"/>
                  </a:lnTo>
                  <a:cubicBezTo>
                    <a:pt x="0" y="9559"/>
                    <a:pt x="9559" y="0"/>
                    <a:pt x="21350"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6" name="TextBox 6"/>
            <p:cNvSpPr txBox="1"/>
            <p:nvPr/>
          </p:nvSpPr>
          <p:spPr>
            <a:xfrm>
              <a:off x="0" y="-38100"/>
              <a:ext cx="3151606" cy="1352077"/>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3827695" y="3008627"/>
            <a:ext cx="10952898" cy="1410258"/>
          </a:xfrm>
          <a:prstGeom prst="rect">
            <a:avLst/>
          </a:prstGeom>
        </p:spPr>
        <p:txBody>
          <a:bodyPr lIns="0" tIns="0" rIns="0" bIns="0" rtlCol="0" anchor="t">
            <a:spAutoFit/>
          </a:bodyPr>
          <a:lstStyle/>
          <a:p>
            <a:pPr algn="ctr">
              <a:lnSpc>
                <a:spcPts val="12600"/>
              </a:lnSpc>
            </a:pPr>
            <a:r>
              <a:rPr lang="en-US" sz="6600" dirty="0">
                <a:solidFill>
                  <a:schemeClr val="bg1"/>
                </a:solidFill>
                <a:latin typeface="Times New Roman" panose="02020603050405020304" pitchFamily="18" charset="0"/>
                <a:cs typeface="Times New Roman" panose="02020603050405020304" pitchFamily="18" charset="0"/>
              </a:rPr>
              <a:t>Smart Recruitment Assistant</a:t>
            </a:r>
            <a:endParaRPr lang="en-US" sz="6600" b="1" dirty="0">
              <a:solidFill>
                <a:schemeClr val="bg1"/>
              </a:solidFill>
              <a:latin typeface="Times New Roman" panose="02020603050405020304" pitchFamily="18" charset="0"/>
              <a:ea typeface="HK Grotesk Bold"/>
              <a:cs typeface="Times New Roman" panose="02020603050405020304" pitchFamily="18" charset="0"/>
              <a:sym typeface="HK Grotesk Bold"/>
            </a:endParaRPr>
          </a:p>
        </p:txBody>
      </p:sp>
      <p:sp>
        <p:nvSpPr>
          <p:cNvPr id="8" name="TextBox 8"/>
          <p:cNvSpPr txBox="1"/>
          <p:nvPr/>
        </p:nvSpPr>
        <p:spPr>
          <a:xfrm>
            <a:off x="4342304" y="5145601"/>
            <a:ext cx="9603391" cy="1833259"/>
          </a:xfrm>
          <a:prstGeom prst="rect">
            <a:avLst/>
          </a:prstGeom>
        </p:spPr>
        <p:txBody>
          <a:bodyPr wrap="square" lIns="0" tIns="0" rIns="0" bIns="0" rtlCol="0" anchor="t">
            <a:spAutoFit/>
          </a:bodyPr>
          <a:lstStyle/>
          <a:p>
            <a:pPr algn="ctr">
              <a:lnSpc>
                <a:spcPts val="4899"/>
              </a:lnSpc>
            </a:pPr>
            <a:r>
              <a:rPr lang="en-US" sz="3600" dirty="0">
                <a:solidFill>
                  <a:schemeClr val="bg1"/>
                </a:solidFill>
                <a:latin typeface="Times New Roman" panose="02020603050405020304" pitchFamily="18" charset="0"/>
                <a:cs typeface="Times New Roman" panose="02020603050405020304" pitchFamily="18" charset="0"/>
              </a:rPr>
              <a:t>Predicting Candidate Job-Change Intent from HR Enrollment Data</a:t>
            </a:r>
          </a:p>
          <a:p>
            <a:pPr algn="ctr">
              <a:lnSpc>
                <a:spcPts val="4899"/>
              </a:lnSpc>
            </a:pPr>
            <a:r>
              <a:rPr lang="en-US" sz="3499" b="1" dirty="0">
                <a:solidFill>
                  <a:schemeClr val="bg1"/>
                </a:solidFill>
                <a:latin typeface="Times New Roman" panose="02020603050405020304" pitchFamily="18" charset="0"/>
                <a:ea typeface="HK Grotesk Medium"/>
                <a:cs typeface="Times New Roman" panose="02020603050405020304" pitchFamily="18" charset="0"/>
                <a:sym typeface="HK Grotesk Medium"/>
              </a:rPr>
              <a:t>Team 2 — Project Report &amp; Findings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4" name="TextBox 4"/>
          <p:cNvSpPr txBox="1"/>
          <p:nvPr/>
        </p:nvSpPr>
        <p:spPr>
          <a:xfrm>
            <a:off x="4204508" y="1361746"/>
            <a:ext cx="9878980" cy="926985"/>
          </a:xfrm>
          <a:prstGeom prst="rect">
            <a:avLst/>
          </a:prstGeom>
        </p:spPr>
        <p:txBody>
          <a:bodyPr lIns="0" tIns="0" rIns="0" bIns="0" rtlCol="0" anchor="t">
            <a:spAutoFit/>
          </a:bodyPr>
          <a:lstStyle/>
          <a:p>
            <a:pPr algn="ctr">
              <a:lnSpc>
                <a:spcPts val="7000"/>
              </a:lnSpc>
            </a:pPr>
            <a:r>
              <a:rPr lang="en-US" sz="6600" i="1" dirty="0">
                <a:solidFill>
                  <a:srgbClr val="CAE8FF"/>
                </a:solidFill>
                <a:latin typeface="HK Grotesk Bold" panose="020B0604020202020204" charset="0"/>
              </a:rPr>
              <a:t>The Problem</a:t>
            </a:r>
            <a:endParaRPr lang="en-US" sz="6000" b="1" i="1" spc="400" dirty="0">
              <a:solidFill>
                <a:srgbClr val="CAE8FF"/>
              </a:solidFill>
              <a:latin typeface="HK Grotesk Bold" panose="020B0604020202020204" charset="0"/>
              <a:ea typeface="HK Grotesk Bold"/>
              <a:cs typeface="HK Grotesk Bold"/>
              <a:sym typeface="HK Grotesk Bold"/>
            </a:endParaRPr>
          </a:p>
        </p:txBody>
      </p:sp>
      <p:grpSp>
        <p:nvGrpSpPr>
          <p:cNvPr id="5" name="Group 5"/>
          <p:cNvGrpSpPr/>
          <p:nvPr/>
        </p:nvGrpSpPr>
        <p:grpSpPr>
          <a:xfrm>
            <a:off x="1077476" y="2498433"/>
            <a:ext cx="15925800" cy="7620000"/>
            <a:chOff x="0" y="0"/>
            <a:chExt cx="3151606" cy="1313977"/>
          </a:xfrm>
        </p:grpSpPr>
        <p:sp>
          <p:nvSpPr>
            <p:cNvPr id="6" name="Freeform 6"/>
            <p:cNvSpPr/>
            <p:nvPr/>
          </p:nvSpPr>
          <p:spPr>
            <a:xfrm>
              <a:off x="0" y="0"/>
              <a:ext cx="3151605" cy="1313977"/>
            </a:xfrm>
            <a:custGeom>
              <a:avLst/>
              <a:gdLst/>
              <a:ahLst/>
              <a:cxnLst/>
              <a:rect l="l" t="t" r="r" b="b"/>
              <a:pathLst>
                <a:path w="3151605" h="1313977">
                  <a:moveTo>
                    <a:pt x="21350" y="0"/>
                  </a:moveTo>
                  <a:lnTo>
                    <a:pt x="3130255" y="0"/>
                  </a:lnTo>
                  <a:cubicBezTo>
                    <a:pt x="3135918" y="0"/>
                    <a:pt x="3141348" y="2249"/>
                    <a:pt x="3145352" y="6253"/>
                  </a:cubicBezTo>
                  <a:cubicBezTo>
                    <a:pt x="3149356" y="10257"/>
                    <a:pt x="3151605" y="15688"/>
                    <a:pt x="3151605" y="21350"/>
                  </a:cubicBezTo>
                  <a:lnTo>
                    <a:pt x="3151605" y="1292627"/>
                  </a:lnTo>
                  <a:cubicBezTo>
                    <a:pt x="3151605" y="1298289"/>
                    <a:pt x="3149356" y="1303720"/>
                    <a:pt x="3145352" y="1307724"/>
                  </a:cubicBezTo>
                  <a:cubicBezTo>
                    <a:pt x="3141348" y="1311728"/>
                    <a:pt x="3135918" y="1313977"/>
                    <a:pt x="3130255" y="1313977"/>
                  </a:cubicBezTo>
                  <a:lnTo>
                    <a:pt x="21350" y="1313977"/>
                  </a:lnTo>
                  <a:cubicBezTo>
                    <a:pt x="9559" y="1313977"/>
                    <a:pt x="0" y="1304418"/>
                    <a:pt x="0" y="1292627"/>
                  </a:cubicBezTo>
                  <a:lnTo>
                    <a:pt x="0" y="21350"/>
                  </a:lnTo>
                  <a:cubicBezTo>
                    <a:pt x="0" y="9559"/>
                    <a:pt x="9559" y="0"/>
                    <a:pt x="21350"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7" name="TextBox 7"/>
            <p:cNvSpPr txBox="1"/>
            <p:nvPr/>
          </p:nvSpPr>
          <p:spPr>
            <a:xfrm>
              <a:off x="0" y="-38100"/>
              <a:ext cx="3151606" cy="1352077"/>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2209800" y="3009900"/>
            <a:ext cx="14096999" cy="5094343"/>
          </a:xfrm>
          <a:prstGeom prst="rect">
            <a:avLst/>
          </a:prstGeom>
        </p:spPr>
        <p:txBody>
          <a:bodyPr wrap="square" lIns="0" tIns="0" rIns="0" bIns="0" rtlCol="0" anchor="t">
            <a:spAutoFit/>
          </a:bodyPr>
          <a:lstStyle/>
          <a:p>
            <a:pPr marL="342900" lvl="0" indent="-342900">
              <a:lnSpc>
                <a:spcPct val="150000"/>
              </a:lnSpc>
              <a:buFont typeface="Arial" panose="020B0604020202020204" pitchFamily="34" charset="0"/>
              <a:buChar char="•"/>
            </a:pPr>
            <a:r>
              <a:rPr lang="en-US" sz="3200" dirty="0">
                <a:solidFill>
                  <a:schemeClr val="bg1"/>
                </a:solidFill>
              </a:rPr>
              <a:t>Not every candidate enrolled in the training program is looking for a new job. Some are upskilling, some are just curious, only a portion are genuinely job-hunting.</a:t>
            </a:r>
          </a:p>
          <a:p>
            <a:pPr marL="342900" lvl="0" indent="-342900">
              <a:lnSpc>
                <a:spcPct val="150000"/>
              </a:lnSpc>
              <a:buFont typeface="Arial" panose="020B0604020202020204" pitchFamily="34" charset="0"/>
              <a:buChar char="•"/>
            </a:pPr>
            <a:r>
              <a:rPr lang="en-US" sz="3200" dirty="0">
                <a:solidFill>
                  <a:schemeClr val="bg1"/>
                </a:solidFill>
              </a:rPr>
              <a:t>The company has no reliable way today to tell these groups apart.</a:t>
            </a:r>
          </a:p>
          <a:p>
            <a:pPr marL="342900" lvl="0" indent="-342900">
              <a:lnSpc>
                <a:spcPct val="150000"/>
              </a:lnSpc>
              <a:buFont typeface="Arial" panose="020B0604020202020204" pitchFamily="34" charset="0"/>
              <a:buChar char="•"/>
            </a:pPr>
            <a:r>
              <a:rPr lang="en-US" sz="3200" dirty="0">
                <a:solidFill>
                  <a:schemeClr val="bg1"/>
                </a:solidFill>
              </a:rPr>
              <a:t>Result: recruiting time and training budget get spread evenly across everyone, instead of focused on the candidates most likely to actually convert.</a:t>
            </a:r>
          </a:p>
          <a:p>
            <a:pPr marL="342900" lvl="0" indent="-342900">
              <a:lnSpc>
                <a:spcPct val="150000"/>
              </a:lnSpc>
              <a:buFont typeface="Arial" panose="020B0604020202020204" pitchFamily="34" charset="0"/>
              <a:buChar char="•"/>
            </a:pPr>
            <a:r>
              <a:rPr lang="en-US" sz="3200" dirty="0">
                <a:solidFill>
                  <a:schemeClr val="bg1"/>
                </a:solidFill>
              </a:rPr>
              <a:t>Goal: score every candidate with a probability of looking for a new job, so outreach can be prioritized.</a:t>
            </a:r>
          </a:p>
        </p:txBody>
      </p:sp>
      <p:sp>
        <p:nvSpPr>
          <p:cNvPr id="10" name="Freeform 2">
            <a:extLst>
              <a:ext uri="{FF2B5EF4-FFF2-40B4-BE49-F238E27FC236}">
                <a16:creationId xmlns:a16="http://schemas.microsoft.com/office/drawing/2014/main" id="{7AE49EF8-885A-31C5-BC72-1F31688E8AE6}"/>
              </a:ext>
            </a:extLst>
          </p:cNvPr>
          <p:cNvSpPr/>
          <p:nvPr/>
        </p:nvSpPr>
        <p:spPr>
          <a:xfrm rot="5400000">
            <a:off x="429162" y="-474457"/>
            <a:ext cx="4139057" cy="5019152"/>
          </a:xfrm>
          <a:custGeom>
            <a:avLst/>
            <a:gdLst/>
            <a:ahLst/>
            <a:cxnLst/>
            <a:rect l="l" t="t" r="r" b="b"/>
            <a:pathLst>
              <a:path w="4139057" h="5019152">
                <a:moveTo>
                  <a:pt x="0" y="0"/>
                </a:moveTo>
                <a:lnTo>
                  <a:pt x="4139057" y="0"/>
                </a:lnTo>
                <a:lnTo>
                  <a:pt x="4139057" y="5019152"/>
                </a:lnTo>
                <a:lnTo>
                  <a:pt x="0" y="5019152"/>
                </a:lnTo>
                <a:lnTo>
                  <a:pt x="0" y="0"/>
                </a:lnTo>
                <a:close/>
              </a:path>
            </a:pathLst>
          </a:custGeom>
          <a:blipFill>
            <a:blip r:embed="rId2"/>
            <a:stretch>
              <a:fillRect/>
            </a:stretch>
          </a:blipFill>
        </p:spPr>
        <p:txBody>
          <a:bodyPr/>
          <a:lstStyle/>
          <a:p>
            <a:endParaRPr lang="en-US" dirty="0"/>
          </a:p>
        </p:txBody>
      </p:sp>
      <p:sp>
        <p:nvSpPr>
          <p:cNvPr id="12" name="Freeform 3">
            <a:extLst>
              <a:ext uri="{FF2B5EF4-FFF2-40B4-BE49-F238E27FC236}">
                <a16:creationId xmlns:a16="http://schemas.microsoft.com/office/drawing/2014/main" id="{FC8AA78E-AD3A-9C6A-C555-ACC18724C367}"/>
              </a:ext>
            </a:extLst>
          </p:cNvPr>
          <p:cNvSpPr/>
          <p:nvPr/>
        </p:nvSpPr>
        <p:spPr>
          <a:xfrm rot="5400000" flipH="1" flipV="1">
            <a:off x="13687973" y="5646831"/>
            <a:ext cx="4241602" cy="5143500"/>
          </a:xfrm>
          <a:custGeom>
            <a:avLst/>
            <a:gdLst/>
            <a:ahLst/>
            <a:cxnLst/>
            <a:rect l="l" t="t" r="r" b="b"/>
            <a:pathLst>
              <a:path w="4241602" h="5143500">
                <a:moveTo>
                  <a:pt x="4241602" y="5143500"/>
                </a:moveTo>
                <a:lnTo>
                  <a:pt x="0" y="5143500"/>
                </a:lnTo>
                <a:lnTo>
                  <a:pt x="0" y="0"/>
                </a:lnTo>
                <a:lnTo>
                  <a:pt x="4241602" y="0"/>
                </a:lnTo>
                <a:lnTo>
                  <a:pt x="4241602" y="5143500"/>
                </a:lnTo>
                <a:close/>
              </a:path>
            </a:pathLst>
          </a:custGeom>
          <a:blipFill>
            <a:blip r:embed="rId2"/>
            <a:stretch>
              <a:fillRect/>
            </a:stretch>
          </a:blipFill>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4" name="Group 4"/>
          <p:cNvGrpSpPr/>
          <p:nvPr/>
        </p:nvGrpSpPr>
        <p:grpSpPr>
          <a:xfrm>
            <a:off x="3047830" y="2863646"/>
            <a:ext cx="12065234" cy="1528413"/>
            <a:chOff x="0" y="0"/>
            <a:chExt cx="3211151" cy="524995"/>
          </a:xfrm>
        </p:grpSpPr>
        <p:sp>
          <p:nvSpPr>
            <p:cNvPr id="5" name="Freeform 5"/>
            <p:cNvSpPr/>
            <p:nvPr/>
          </p:nvSpPr>
          <p:spPr>
            <a:xfrm>
              <a:off x="0" y="0"/>
              <a:ext cx="3211151" cy="524995"/>
            </a:xfrm>
            <a:custGeom>
              <a:avLst/>
              <a:gdLst/>
              <a:ahLst/>
              <a:cxnLst/>
              <a:rect l="l" t="t" r="r" b="b"/>
              <a:pathLst>
                <a:path w="3211151" h="524995">
                  <a:moveTo>
                    <a:pt x="20954" y="0"/>
                  </a:moveTo>
                  <a:lnTo>
                    <a:pt x="3190197" y="0"/>
                  </a:lnTo>
                  <a:cubicBezTo>
                    <a:pt x="3195754" y="0"/>
                    <a:pt x="3201084" y="2208"/>
                    <a:pt x="3205014" y="6137"/>
                  </a:cubicBezTo>
                  <a:cubicBezTo>
                    <a:pt x="3208944" y="10067"/>
                    <a:pt x="3211151" y="15397"/>
                    <a:pt x="3211151" y="20954"/>
                  </a:cubicBezTo>
                  <a:lnTo>
                    <a:pt x="3211151" y="504041"/>
                  </a:lnTo>
                  <a:cubicBezTo>
                    <a:pt x="3211151" y="515614"/>
                    <a:pt x="3201770" y="524995"/>
                    <a:pt x="3190197" y="524995"/>
                  </a:cubicBezTo>
                  <a:lnTo>
                    <a:pt x="20954" y="524995"/>
                  </a:lnTo>
                  <a:cubicBezTo>
                    <a:pt x="9382" y="524995"/>
                    <a:pt x="0" y="515614"/>
                    <a:pt x="0" y="504041"/>
                  </a:cubicBezTo>
                  <a:lnTo>
                    <a:pt x="0" y="20954"/>
                  </a:lnTo>
                  <a:cubicBezTo>
                    <a:pt x="0" y="9382"/>
                    <a:pt x="9382" y="0"/>
                    <a:pt x="20954"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6" name="TextBox 6"/>
            <p:cNvSpPr txBox="1"/>
            <p:nvPr/>
          </p:nvSpPr>
          <p:spPr>
            <a:xfrm>
              <a:off x="0" y="-38100"/>
              <a:ext cx="3211151" cy="563095"/>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3421344" y="2959266"/>
            <a:ext cx="11513856" cy="872290"/>
          </a:xfrm>
          <a:prstGeom prst="rect">
            <a:avLst/>
          </a:prstGeom>
        </p:spPr>
        <p:txBody>
          <a:bodyPr wrap="square" lIns="0" tIns="0" rIns="0" bIns="0" rtlCol="0" anchor="t">
            <a:spAutoFit/>
          </a:bodyPr>
          <a:lstStyle/>
          <a:p>
            <a:pPr marL="342900" lvl="0" indent="-342900">
              <a:lnSpc>
                <a:spcPct val="150000"/>
              </a:lnSpc>
              <a:buFont typeface="Arial" panose="020B0604020202020204" pitchFamily="34" charset="0"/>
              <a:buChar char="•"/>
            </a:pPr>
            <a:r>
              <a:rPr lang="en-US" sz="2000" dirty="0">
                <a:solidFill>
                  <a:schemeClr val="bg1"/>
                </a:solidFill>
                <a:latin typeface="Comic Sans MS" panose="030F0702030302020204" pitchFamily="66" charset="0"/>
              </a:rPr>
              <a:t>Source: HR analytics data from a Big Data / Data Science training program.</a:t>
            </a:r>
          </a:p>
          <a:p>
            <a:pPr marL="342900" lvl="0" indent="-342900">
              <a:lnSpc>
                <a:spcPct val="150000"/>
              </a:lnSpc>
              <a:buFont typeface="Arial" panose="020B0604020202020204" pitchFamily="34" charset="0"/>
              <a:buChar char="•"/>
            </a:pPr>
            <a:r>
              <a:rPr lang="en-US" sz="2000" dirty="0">
                <a:solidFill>
                  <a:schemeClr val="bg1"/>
                </a:solidFill>
                <a:latin typeface="Comic Sans MS" panose="030F0702030302020204" pitchFamily="66" charset="0"/>
              </a:rPr>
              <a:t>Training set (aug_train.csv): 19,158 candidates, 14 columns, including the target label.</a:t>
            </a:r>
          </a:p>
        </p:txBody>
      </p:sp>
      <p:grpSp>
        <p:nvGrpSpPr>
          <p:cNvPr id="8" name="Group 8"/>
          <p:cNvGrpSpPr/>
          <p:nvPr/>
        </p:nvGrpSpPr>
        <p:grpSpPr>
          <a:xfrm>
            <a:off x="3047830" y="5066538"/>
            <a:ext cx="12065234" cy="4877562"/>
            <a:chOff x="0" y="0"/>
            <a:chExt cx="3211151" cy="524995"/>
          </a:xfrm>
        </p:grpSpPr>
        <p:sp>
          <p:nvSpPr>
            <p:cNvPr id="9" name="Freeform 9"/>
            <p:cNvSpPr/>
            <p:nvPr/>
          </p:nvSpPr>
          <p:spPr>
            <a:xfrm>
              <a:off x="0" y="0"/>
              <a:ext cx="3211151" cy="524995"/>
            </a:xfrm>
            <a:custGeom>
              <a:avLst/>
              <a:gdLst/>
              <a:ahLst/>
              <a:cxnLst/>
              <a:rect l="l" t="t" r="r" b="b"/>
              <a:pathLst>
                <a:path w="3211151" h="524995">
                  <a:moveTo>
                    <a:pt x="20954" y="0"/>
                  </a:moveTo>
                  <a:lnTo>
                    <a:pt x="3190197" y="0"/>
                  </a:lnTo>
                  <a:cubicBezTo>
                    <a:pt x="3195754" y="0"/>
                    <a:pt x="3201084" y="2208"/>
                    <a:pt x="3205014" y="6137"/>
                  </a:cubicBezTo>
                  <a:cubicBezTo>
                    <a:pt x="3208944" y="10067"/>
                    <a:pt x="3211151" y="15397"/>
                    <a:pt x="3211151" y="20954"/>
                  </a:cubicBezTo>
                  <a:lnTo>
                    <a:pt x="3211151" y="504041"/>
                  </a:lnTo>
                  <a:cubicBezTo>
                    <a:pt x="3211151" y="515614"/>
                    <a:pt x="3201770" y="524995"/>
                    <a:pt x="3190197" y="524995"/>
                  </a:cubicBezTo>
                  <a:lnTo>
                    <a:pt x="20954" y="524995"/>
                  </a:lnTo>
                  <a:cubicBezTo>
                    <a:pt x="9382" y="524995"/>
                    <a:pt x="0" y="515614"/>
                    <a:pt x="0" y="504041"/>
                  </a:cubicBezTo>
                  <a:lnTo>
                    <a:pt x="0" y="20954"/>
                  </a:lnTo>
                  <a:cubicBezTo>
                    <a:pt x="0" y="9382"/>
                    <a:pt x="9382" y="0"/>
                    <a:pt x="20954"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10" name="TextBox 10"/>
            <p:cNvSpPr txBox="1"/>
            <p:nvPr/>
          </p:nvSpPr>
          <p:spPr>
            <a:xfrm>
              <a:off x="0" y="-38100"/>
              <a:ext cx="3211151" cy="563095"/>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028700" y="1110016"/>
            <a:ext cx="16230600" cy="897682"/>
          </a:xfrm>
          <a:prstGeom prst="rect">
            <a:avLst/>
          </a:prstGeom>
        </p:spPr>
        <p:txBody>
          <a:bodyPr lIns="0" tIns="0" rIns="0" bIns="0" rtlCol="0" anchor="t">
            <a:spAutoFit/>
          </a:bodyPr>
          <a:lstStyle/>
          <a:p>
            <a:pPr algn="ctr">
              <a:lnSpc>
                <a:spcPts val="7000"/>
              </a:lnSpc>
            </a:pPr>
            <a:r>
              <a:rPr lang="en-US" sz="6000" i="1" dirty="0">
                <a:solidFill>
                  <a:srgbClr val="CAE8FF"/>
                </a:solidFill>
                <a:latin typeface="HK Grotesk Bold" panose="020B0604020202020204" charset="0"/>
              </a:rPr>
              <a:t>The Dataset</a:t>
            </a:r>
            <a:endParaRPr lang="en-US" sz="5400" b="1" i="1" spc="400" dirty="0">
              <a:solidFill>
                <a:srgbClr val="CAE8FF"/>
              </a:solidFill>
              <a:latin typeface="HK Grotesk Bold" panose="020B0604020202020204" charset="0"/>
              <a:ea typeface="HK Grotesk Bold"/>
              <a:cs typeface="HK Grotesk Bold"/>
              <a:sym typeface="HK Grotesk Bold"/>
            </a:endParaRPr>
          </a:p>
        </p:txBody>
      </p:sp>
      <p:sp>
        <p:nvSpPr>
          <p:cNvPr id="17" name="TextBox 16">
            <a:extLst>
              <a:ext uri="{FF2B5EF4-FFF2-40B4-BE49-F238E27FC236}">
                <a16:creationId xmlns:a16="http://schemas.microsoft.com/office/drawing/2014/main" id="{CBDC3F4A-7790-9C3D-E6A7-6841347C99A6}"/>
              </a:ext>
            </a:extLst>
          </p:cNvPr>
          <p:cNvSpPr txBox="1"/>
          <p:nvPr/>
        </p:nvSpPr>
        <p:spPr>
          <a:xfrm>
            <a:off x="3174936" y="5211550"/>
            <a:ext cx="11490138" cy="3913059"/>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US" sz="2400" dirty="0">
                <a:solidFill>
                  <a:schemeClr val="bg1"/>
                </a:solidFill>
                <a:latin typeface="Comic Sans MS" panose="030F0702030302020204" pitchFamily="66" charset="0"/>
              </a:rPr>
              <a:t>Test set (aug_test.csv): 2,129 candidates, same 13 feature columns, no target (the ones the model needs to score).</a:t>
            </a:r>
          </a:p>
          <a:p>
            <a:pPr marL="342900" lvl="0" indent="-342900">
              <a:lnSpc>
                <a:spcPct val="150000"/>
              </a:lnSpc>
              <a:buFont typeface="Arial" panose="020B0604020202020204" pitchFamily="34" charset="0"/>
              <a:buChar char="•"/>
            </a:pPr>
            <a:r>
              <a:rPr lang="en-US" sz="2400" dirty="0">
                <a:solidFill>
                  <a:schemeClr val="bg1"/>
                </a:solidFill>
                <a:latin typeface="Comic Sans MS" panose="030F0702030302020204" pitchFamily="66" charset="0"/>
              </a:rPr>
              <a:t>Features cover: city and its development index, gender, relevant experience, university enrollment, education level, major, years of experience, company size and type, years since last job change, training hours.</a:t>
            </a:r>
          </a:p>
          <a:p>
            <a:pPr marL="342900" lvl="0" indent="-342900">
              <a:lnSpc>
                <a:spcPct val="150000"/>
              </a:lnSpc>
              <a:buFont typeface="Arial" panose="020B0604020202020204" pitchFamily="34" charset="0"/>
              <a:buChar char="•"/>
            </a:pPr>
            <a:r>
              <a:rPr lang="en-US" sz="2400" dirty="0">
                <a:solidFill>
                  <a:schemeClr val="bg1"/>
                </a:solidFill>
                <a:latin typeface="Comic Sans MS" panose="030F0702030302020204" pitchFamily="66" charset="0"/>
              </a:rPr>
              <a:t>Target split: 75% not looking (14,381), 25% looking for a new job (4,777).</a:t>
            </a:r>
          </a:p>
          <a:p>
            <a:pPr>
              <a:lnSpc>
                <a:spcPct val="150000"/>
              </a:lnSpc>
            </a:pPr>
            <a:endParaRPr lang="en-US" sz="2400" dirty="0">
              <a:solidFill>
                <a:schemeClr val="bg1"/>
              </a:solidFill>
              <a:latin typeface="Comic Sans MS" panose="030F0702030302020204" pitchFamily="66" charset="0"/>
            </a:endParaRPr>
          </a:p>
        </p:txBody>
      </p:sp>
      <p:sp>
        <p:nvSpPr>
          <p:cNvPr id="19" name="Freeform 2">
            <a:extLst>
              <a:ext uri="{FF2B5EF4-FFF2-40B4-BE49-F238E27FC236}">
                <a16:creationId xmlns:a16="http://schemas.microsoft.com/office/drawing/2014/main" id="{03086AE4-481A-759A-D5A0-940FB2CEB5B8}"/>
              </a:ext>
            </a:extLst>
          </p:cNvPr>
          <p:cNvSpPr/>
          <p:nvPr/>
        </p:nvSpPr>
        <p:spPr>
          <a:xfrm rot="5400000">
            <a:off x="15349014" y="6865444"/>
            <a:ext cx="4405393" cy="4623080"/>
          </a:xfrm>
          <a:custGeom>
            <a:avLst/>
            <a:gdLst/>
            <a:ahLst/>
            <a:cxnLst/>
            <a:rect l="l" t="t" r="r" b="b"/>
            <a:pathLst>
              <a:path w="4405393" h="4623080">
                <a:moveTo>
                  <a:pt x="0" y="0"/>
                </a:moveTo>
                <a:lnTo>
                  <a:pt x="4405392" y="0"/>
                </a:lnTo>
                <a:lnTo>
                  <a:pt x="4405392" y="4623080"/>
                </a:lnTo>
                <a:lnTo>
                  <a:pt x="0" y="4623080"/>
                </a:lnTo>
                <a:lnTo>
                  <a:pt x="0" y="0"/>
                </a:lnTo>
                <a:close/>
              </a:path>
            </a:pathLst>
          </a:custGeom>
          <a:blipFill>
            <a:blip r:embed="rId2"/>
            <a:stretch>
              <a:fillRect/>
            </a:stretch>
          </a:blipFill>
        </p:spPr>
        <p:txBody>
          <a:bodyPr/>
          <a:lstStyle/>
          <a:p>
            <a:endParaRPr lang="en-US"/>
          </a:p>
        </p:txBody>
      </p:sp>
      <p:sp>
        <p:nvSpPr>
          <p:cNvPr id="21" name="Freeform 3">
            <a:extLst>
              <a:ext uri="{FF2B5EF4-FFF2-40B4-BE49-F238E27FC236}">
                <a16:creationId xmlns:a16="http://schemas.microsoft.com/office/drawing/2014/main" id="{3CDCB8EE-1414-8C51-B68F-CE2DCB793975}"/>
              </a:ext>
            </a:extLst>
          </p:cNvPr>
          <p:cNvSpPr/>
          <p:nvPr/>
        </p:nvSpPr>
        <p:spPr>
          <a:xfrm rot="5400000">
            <a:off x="-957955" y="-1366144"/>
            <a:ext cx="4405393" cy="4623080"/>
          </a:xfrm>
          <a:custGeom>
            <a:avLst/>
            <a:gdLst/>
            <a:ahLst/>
            <a:cxnLst/>
            <a:rect l="l" t="t" r="r" b="b"/>
            <a:pathLst>
              <a:path w="4405393" h="4623080">
                <a:moveTo>
                  <a:pt x="0" y="0"/>
                </a:moveTo>
                <a:lnTo>
                  <a:pt x="4405393" y="0"/>
                </a:lnTo>
                <a:lnTo>
                  <a:pt x="4405393" y="4623080"/>
                </a:lnTo>
                <a:lnTo>
                  <a:pt x="0" y="4623080"/>
                </a:lnTo>
                <a:lnTo>
                  <a:pt x="0" y="0"/>
                </a:lnTo>
                <a:close/>
              </a:path>
            </a:pathLst>
          </a:custGeom>
          <a:blipFill>
            <a:blip r:embed="rId2"/>
            <a:stretch>
              <a:fillRect/>
            </a:stretch>
          </a:blipFill>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Freeform 2"/>
          <p:cNvSpPr/>
          <p:nvPr/>
        </p:nvSpPr>
        <p:spPr>
          <a:xfrm>
            <a:off x="15178522" y="-968410"/>
            <a:ext cx="4405393" cy="4623080"/>
          </a:xfrm>
          <a:custGeom>
            <a:avLst/>
            <a:gdLst/>
            <a:ahLst/>
            <a:cxnLst/>
            <a:rect l="l" t="t" r="r" b="b"/>
            <a:pathLst>
              <a:path w="4405393" h="4623080">
                <a:moveTo>
                  <a:pt x="0" y="0"/>
                </a:moveTo>
                <a:lnTo>
                  <a:pt x="4405392" y="0"/>
                </a:lnTo>
                <a:lnTo>
                  <a:pt x="4405392" y="4623080"/>
                </a:lnTo>
                <a:lnTo>
                  <a:pt x="0" y="4623080"/>
                </a:lnTo>
                <a:lnTo>
                  <a:pt x="0" y="0"/>
                </a:lnTo>
                <a:close/>
              </a:path>
            </a:pathLst>
          </a:custGeom>
          <a:blipFill>
            <a:blip r:embed="rId2"/>
            <a:stretch>
              <a:fillRect/>
            </a:stretch>
          </a:blipFill>
        </p:spPr>
        <p:txBody>
          <a:bodyPr/>
          <a:lstStyle/>
          <a:p>
            <a:endParaRPr lang="en-US"/>
          </a:p>
        </p:txBody>
      </p:sp>
      <p:sp>
        <p:nvSpPr>
          <p:cNvPr id="3" name="Freeform 3"/>
          <p:cNvSpPr/>
          <p:nvPr/>
        </p:nvSpPr>
        <p:spPr>
          <a:xfrm>
            <a:off x="-1248858" y="7097067"/>
            <a:ext cx="4405393" cy="4623080"/>
          </a:xfrm>
          <a:custGeom>
            <a:avLst/>
            <a:gdLst/>
            <a:ahLst/>
            <a:cxnLst/>
            <a:rect l="l" t="t" r="r" b="b"/>
            <a:pathLst>
              <a:path w="4405393" h="4623080">
                <a:moveTo>
                  <a:pt x="0" y="0"/>
                </a:moveTo>
                <a:lnTo>
                  <a:pt x="4405393" y="0"/>
                </a:lnTo>
                <a:lnTo>
                  <a:pt x="4405393" y="4623080"/>
                </a:lnTo>
                <a:lnTo>
                  <a:pt x="0" y="4623080"/>
                </a:lnTo>
                <a:lnTo>
                  <a:pt x="0" y="0"/>
                </a:lnTo>
                <a:close/>
              </a:path>
            </a:pathLst>
          </a:custGeom>
          <a:blipFill>
            <a:blip r:embed="rId2"/>
            <a:stretch>
              <a:fillRect/>
            </a:stretch>
          </a:blipFill>
        </p:spPr>
        <p:txBody>
          <a:bodyPr/>
          <a:lstStyle/>
          <a:p>
            <a:endParaRPr lang="en-US"/>
          </a:p>
        </p:txBody>
      </p:sp>
      <p:grpSp>
        <p:nvGrpSpPr>
          <p:cNvPr id="4" name="Group 4"/>
          <p:cNvGrpSpPr/>
          <p:nvPr/>
        </p:nvGrpSpPr>
        <p:grpSpPr>
          <a:xfrm>
            <a:off x="9296191" y="1924469"/>
            <a:ext cx="6182170" cy="3010737"/>
            <a:chOff x="0" y="0"/>
            <a:chExt cx="1628226" cy="792951"/>
          </a:xfrm>
        </p:grpSpPr>
        <p:sp>
          <p:nvSpPr>
            <p:cNvPr id="5" name="Freeform 5"/>
            <p:cNvSpPr/>
            <p:nvPr/>
          </p:nvSpPr>
          <p:spPr>
            <a:xfrm>
              <a:off x="0" y="0"/>
              <a:ext cx="1628226" cy="792951"/>
            </a:xfrm>
            <a:custGeom>
              <a:avLst/>
              <a:gdLst/>
              <a:ahLst/>
              <a:cxnLst/>
              <a:rect l="l" t="t" r="r" b="b"/>
              <a:pathLst>
                <a:path w="1628226" h="792951">
                  <a:moveTo>
                    <a:pt x="41326" y="0"/>
                  </a:moveTo>
                  <a:lnTo>
                    <a:pt x="1586900" y="0"/>
                  </a:lnTo>
                  <a:cubicBezTo>
                    <a:pt x="1609724" y="0"/>
                    <a:pt x="1628226" y="18502"/>
                    <a:pt x="1628226" y="41326"/>
                  </a:cubicBezTo>
                  <a:lnTo>
                    <a:pt x="1628226" y="751626"/>
                  </a:lnTo>
                  <a:cubicBezTo>
                    <a:pt x="1628226" y="762586"/>
                    <a:pt x="1623872" y="773097"/>
                    <a:pt x="1616122" y="780847"/>
                  </a:cubicBezTo>
                  <a:cubicBezTo>
                    <a:pt x="1608372" y="788597"/>
                    <a:pt x="1597860" y="792951"/>
                    <a:pt x="1586900" y="792951"/>
                  </a:cubicBezTo>
                  <a:lnTo>
                    <a:pt x="41326" y="792951"/>
                  </a:lnTo>
                  <a:cubicBezTo>
                    <a:pt x="30366" y="792951"/>
                    <a:pt x="19854" y="788597"/>
                    <a:pt x="12104" y="780847"/>
                  </a:cubicBezTo>
                  <a:cubicBezTo>
                    <a:pt x="4354" y="773097"/>
                    <a:pt x="0" y="762586"/>
                    <a:pt x="0" y="751626"/>
                  </a:cubicBezTo>
                  <a:lnTo>
                    <a:pt x="0" y="41326"/>
                  </a:lnTo>
                  <a:cubicBezTo>
                    <a:pt x="0" y="30366"/>
                    <a:pt x="4354" y="19854"/>
                    <a:pt x="12104" y="12104"/>
                  </a:cubicBezTo>
                  <a:cubicBezTo>
                    <a:pt x="19854" y="4354"/>
                    <a:pt x="30366" y="0"/>
                    <a:pt x="41326"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6" name="TextBox 6"/>
            <p:cNvSpPr txBox="1"/>
            <p:nvPr/>
          </p:nvSpPr>
          <p:spPr>
            <a:xfrm>
              <a:off x="0" y="-38100"/>
              <a:ext cx="1628226" cy="831051"/>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9547241" y="2158848"/>
            <a:ext cx="5650875" cy="2541978"/>
          </a:xfrm>
          <a:prstGeom prst="rect">
            <a:avLst/>
          </a:prstGeom>
        </p:spPr>
        <p:txBody>
          <a:bodyPr lIns="0" tIns="0" rIns="0" bIns="0" rtlCol="0" anchor="t">
            <a:spAutoFit/>
          </a:bodyPr>
          <a:lstStyle/>
          <a:p>
            <a:pPr algn="just">
              <a:lnSpc>
                <a:spcPct val="140000"/>
              </a:lnSpc>
            </a:pPr>
            <a:r>
              <a:rPr lang="en-US" sz="2000" dirty="0">
                <a:solidFill>
                  <a:schemeClr val="bg1"/>
                </a:solidFill>
                <a:latin typeface="Comic Sans MS" panose="030F0702030302020204" pitchFamily="66" charset="0"/>
              </a:rPr>
              <a:t>Missing values are significant in several columns:</a:t>
            </a:r>
          </a:p>
          <a:p>
            <a:pPr algn="just">
              <a:lnSpc>
                <a:spcPct val="140000"/>
              </a:lnSpc>
            </a:pPr>
            <a:r>
              <a:rPr lang="en-US" sz="2000" dirty="0" err="1">
                <a:solidFill>
                  <a:schemeClr val="bg1"/>
                </a:solidFill>
                <a:latin typeface="Comic Sans MS" panose="030F0702030302020204" pitchFamily="66" charset="0"/>
              </a:rPr>
              <a:t>company_type</a:t>
            </a:r>
            <a:r>
              <a:rPr lang="en-US" sz="2000" dirty="0">
                <a:solidFill>
                  <a:schemeClr val="bg1"/>
                </a:solidFill>
                <a:latin typeface="Comic Sans MS" panose="030F0702030302020204" pitchFamily="66" charset="0"/>
              </a:rPr>
              <a:t>(32%),</a:t>
            </a:r>
          </a:p>
          <a:p>
            <a:pPr algn="just">
              <a:lnSpc>
                <a:spcPct val="140000"/>
              </a:lnSpc>
            </a:pPr>
            <a:r>
              <a:rPr lang="en-US" sz="2000" dirty="0" err="1">
                <a:solidFill>
                  <a:schemeClr val="bg1"/>
                </a:solidFill>
                <a:latin typeface="Comic Sans MS" panose="030F0702030302020204" pitchFamily="66" charset="0"/>
              </a:rPr>
              <a:t>company_size</a:t>
            </a:r>
            <a:r>
              <a:rPr lang="en-US" sz="2000" dirty="0">
                <a:solidFill>
                  <a:schemeClr val="bg1"/>
                </a:solidFill>
                <a:latin typeface="Comic Sans MS" panose="030F0702030302020204" pitchFamily="66" charset="0"/>
              </a:rPr>
              <a:t> (31%), </a:t>
            </a:r>
          </a:p>
          <a:p>
            <a:pPr algn="just">
              <a:lnSpc>
                <a:spcPct val="140000"/>
              </a:lnSpc>
            </a:pPr>
            <a:r>
              <a:rPr lang="en-US" sz="2000" dirty="0">
                <a:solidFill>
                  <a:schemeClr val="bg1"/>
                </a:solidFill>
                <a:latin typeface="Comic Sans MS" panose="030F0702030302020204" pitchFamily="66" charset="0"/>
              </a:rPr>
              <a:t>gender (23.5%), </a:t>
            </a:r>
          </a:p>
          <a:p>
            <a:pPr algn="just">
              <a:lnSpc>
                <a:spcPct val="140000"/>
              </a:lnSpc>
            </a:pPr>
            <a:r>
              <a:rPr lang="en-US" sz="2000" dirty="0" err="1">
                <a:solidFill>
                  <a:schemeClr val="bg1"/>
                </a:solidFill>
                <a:latin typeface="Comic Sans MS" panose="030F0702030302020204" pitchFamily="66" charset="0"/>
              </a:rPr>
              <a:t>major_discipline</a:t>
            </a:r>
            <a:r>
              <a:rPr lang="en-US" sz="2000" dirty="0">
                <a:solidFill>
                  <a:schemeClr val="bg1"/>
                </a:solidFill>
                <a:latin typeface="Comic Sans MS" panose="030F0702030302020204" pitchFamily="66" charset="0"/>
              </a:rPr>
              <a:t> (14.7%).</a:t>
            </a:r>
            <a:endParaRPr lang="en-US" sz="2000" b="1" dirty="0">
              <a:solidFill>
                <a:schemeClr val="bg1"/>
              </a:solidFill>
              <a:latin typeface="Comic Sans MS" panose="030F0702030302020204" pitchFamily="66" charset="0"/>
              <a:ea typeface="HK Grotesk Medium"/>
              <a:cs typeface="HK Grotesk Medium"/>
              <a:sym typeface="HK Grotesk Medium"/>
            </a:endParaRPr>
          </a:p>
        </p:txBody>
      </p:sp>
      <p:grpSp>
        <p:nvGrpSpPr>
          <p:cNvPr id="8" name="Group 8"/>
          <p:cNvGrpSpPr/>
          <p:nvPr/>
        </p:nvGrpSpPr>
        <p:grpSpPr>
          <a:xfrm>
            <a:off x="2809639" y="5238750"/>
            <a:ext cx="6182170" cy="3010737"/>
            <a:chOff x="0" y="0"/>
            <a:chExt cx="1628226" cy="792951"/>
          </a:xfrm>
        </p:grpSpPr>
        <p:sp>
          <p:nvSpPr>
            <p:cNvPr id="9" name="Freeform 9"/>
            <p:cNvSpPr/>
            <p:nvPr/>
          </p:nvSpPr>
          <p:spPr>
            <a:xfrm>
              <a:off x="0" y="0"/>
              <a:ext cx="1628226" cy="792951"/>
            </a:xfrm>
            <a:custGeom>
              <a:avLst/>
              <a:gdLst/>
              <a:ahLst/>
              <a:cxnLst/>
              <a:rect l="l" t="t" r="r" b="b"/>
              <a:pathLst>
                <a:path w="1628226" h="792951">
                  <a:moveTo>
                    <a:pt x="41326" y="0"/>
                  </a:moveTo>
                  <a:lnTo>
                    <a:pt x="1586900" y="0"/>
                  </a:lnTo>
                  <a:cubicBezTo>
                    <a:pt x="1609724" y="0"/>
                    <a:pt x="1628226" y="18502"/>
                    <a:pt x="1628226" y="41326"/>
                  </a:cubicBezTo>
                  <a:lnTo>
                    <a:pt x="1628226" y="751626"/>
                  </a:lnTo>
                  <a:cubicBezTo>
                    <a:pt x="1628226" y="762586"/>
                    <a:pt x="1623872" y="773097"/>
                    <a:pt x="1616122" y="780847"/>
                  </a:cubicBezTo>
                  <a:cubicBezTo>
                    <a:pt x="1608372" y="788597"/>
                    <a:pt x="1597860" y="792951"/>
                    <a:pt x="1586900" y="792951"/>
                  </a:cubicBezTo>
                  <a:lnTo>
                    <a:pt x="41326" y="792951"/>
                  </a:lnTo>
                  <a:cubicBezTo>
                    <a:pt x="30366" y="792951"/>
                    <a:pt x="19854" y="788597"/>
                    <a:pt x="12104" y="780847"/>
                  </a:cubicBezTo>
                  <a:cubicBezTo>
                    <a:pt x="4354" y="773097"/>
                    <a:pt x="0" y="762586"/>
                    <a:pt x="0" y="751626"/>
                  </a:cubicBezTo>
                  <a:lnTo>
                    <a:pt x="0" y="41326"/>
                  </a:lnTo>
                  <a:cubicBezTo>
                    <a:pt x="0" y="30366"/>
                    <a:pt x="4354" y="19854"/>
                    <a:pt x="12104" y="12104"/>
                  </a:cubicBezTo>
                  <a:cubicBezTo>
                    <a:pt x="19854" y="4354"/>
                    <a:pt x="30366" y="0"/>
                    <a:pt x="41326"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10" name="TextBox 10"/>
            <p:cNvSpPr txBox="1"/>
            <p:nvPr/>
          </p:nvSpPr>
          <p:spPr>
            <a:xfrm>
              <a:off x="0" y="-38100"/>
              <a:ext cx="1628226" cy="831051"/>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9296191" y="5238750"/>
            <a:ext cx="6182170" cy="3010737"/>
            <a:chOff x="0" y="0"/>
            <a:chExt cx="1628226" cy="792951"/>
          </a:xfrm>
        </p:grpSpPr>
        <p:sp>
          <p:nvSpPr>
            <p:cNvPr id="13" name="Freeform 13"/>
            <p:cNvSpPr/>
            <p:nvPr/>
          </p:nvSpPr>
          <p:spPr>
            <a:xfrm>
              <a:off x="0" y="0"/>
              <a:ext cx="1628226" cy="792951"/>
            </a:xfrm>
            <a:custGeom>
              <a:avLst/>
              <a:gdLst/>
              <a:ahLst/>
              <a:cxnLst/>
              <a:rect l="l" t="t" r="r" b="b"/>
              <a:pathLst>
                <a:path w="1628226" h="792951">
                  <a:moveTo>
                    <a:pt x="41326" y="0"/>
                  </a:moveTo>
                  <a:lnTo>
                    <a:pt x="1586900" y="0"/>
                  </a:lnTo>
                  <a:cubicBezTo>
                    <a:pt x="1609724" y="0"/>
                    <a:pt x="1628226" y="18502"/>
                    <a:pt x="1628226" y="41326"/>
                  </a:cubicBezTo>
                  <a:lnTo>
                    <a:pt x="1628226" y="751626"/>
                  </a:lnTo>
                  <a:cubicBezTo>
                    <a:pt x="1628226" y="762586"/>
                    <a:pt x="1623872" y="773097"/>
                    <a:pt x="1616122" y="780847"/>
                  </a:cubicBezTo>
                  <a:cubicBezTo>
                    <a:pt x="1608372" y="788597"/>
                    <a:pt x="1597860" y="792951"/>
                    <a:pt x="1586900" y="792951"/>
                  </a:cubicBezTo>
                  <a:lnTo>
                    <a:pt x="41326" y="792951"/>
                  </a:lnTo>
                  <a:cubicBezTo>
                    <a:pt x="30366" y="792951"/>
                    <a:pt x="19854" y="788597"/>
                    <a:pt x="12104" y="780847"/>
                  </a:cubicBezTo>
                  <a:cubicBezTo>
                    <a:pt x="4354" y="773097"/>
                    <a:pt x="0" y="762586"/>
                    <a:pt x="0" y="751626"/>
                  </a:cubicBezTo>
                  <a:lnTo>
                    <a:pt x="0" y="41326"/>
                  </a:lnTo>
                  <a:cubicBezTo>
                    <a:pt x="0" y="30366"/>
                    <a:pt x="4354" y="19854"/>
                    <a:pt x="12104" y="12104"/>
                  </a:cubicBezTo>
                  <a:cubicBezTo>
                    <a:pt x="19854" y="4354"/>
                    <a:pt x="30366" y="0"/>
                    <a:pt x="41326"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14" name="TextBox 14"/>
            <p:cNvSpPr txBox="1"/>
            <p:nvPr/>
          </p:nvSpPr>
          <p:spPr>
            <a:xfrm>
              <a:off x="0" y="-38100"/>
              <a:ext cx="1628226" cy="831051"/>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2809639" y="3205829"/>
            <a:ext cx="6182170" cy="897682"/>
          </a:xfrm>
          <a:prstGeom prst="rect">
            <a:avLst/>
          </a:prstGeom>
        </p:spPr>
        <p:txBody>
          <a:bodyPr lIns="0" tIns="0" rIns="0" bIns="0" rtlCol="0" anchor="t">
            <a:spAutoFit/>
          </a:bodyPr>
          <a:lstStyle/>
          <a:p>
            <a:pPr>
              <a:lnSpc>
                <a:spcPts val="7000"/>
              </a:lnSpc>
            </a:pPr>
            <a:r>
              <a:rPr lang="en-US" sz="6000" dirty="0">
                <a:solidFill>
                  <a:srgbClr val="CAE8FF"/>
                </a:solidFill>
                <a:latin typeface="HK Grotesk Bold" panose="020B0604020202020204" charset="0"/>
              </a:rPr>
              <a:t>Data Challenges</a:t>
            </a:r>
            <a:endParaRPr lang="en-US" sz="5400" b="1" spc="400" dirty="0">
              <a:solidFill>
                <a:srgbClr val="CAE8FF"/>
              </a:solidFill>
              <a:latin typeface="HK Grotesk Bold" panose="020B0604020202020204" charset="0"/>
              <a:ea typeface="HK Grotesk Bold"/>
              <a:cs typeface="HK Grotesk Bold"/>
              <a:sym typeface="HK Grotesk Bold"/>
            </a:endParaRPr>
          </a:p>
        </p:txBody>
      </p:sp>
      <p:sp>
        <p:nvSpPr>
          <p:cNvPr id="18" name="TextBox 7">
            <a:extLst>
              <a:ext uri="{FF2B5EF4-FFF2-40B4-BE49-F238E27FC236}">
                <a16:creationId xmlns:a16="http://schemas.microsoft.com/office/drawing/2014/main" id="{1E1F06EE-3829-8FFF-53EA-345CBC1FC558}"/>
              </a:ext>
            </a:extLst>
          </p:cNvPr>
          <p:cNvSpPr txBox="1"/>
          <p:nvPr/>
        </p:nvSpPr>
        <p:spPr>
          <a:xfrm>
            <a:off x="3075287" y="5418173"/>
            <a:ext cx="5650875" cy="2541978"/>
          </a:xfrm>
          <a:prstGeom prst="rect">
            <a:avLst/>
          </a:prstGeom>
        </p:spPr>
        <p:txBody>
          <a:bodyPr lIns="0" tIns="0" rIns="0" bIns="0" rtlCol="0" anchor="t">
            <a:spAutoFit/>
          </a:bodyPr>
          <a:lstStyle/>
          <a:p>
            <a:pPr algn="just">
              <a:lnSpc>
                <a:spcPct val="140000"/>
              </a:lnSpc>
            </a:pPr>
            <a:r>
              <a:rPr lang="en-US" sz="2000" dirty="0">
                <a:solidFill>
                  <a:schemeClr val="bg1"/>
                </a:solidFill>
                <a:latin typeface="Comic Sans MS" panose="030F0702030302020204" pitchFamily="66" charset="0"/>
              </a:rPr>
              <a:t>The missingness is not random. </a:t>
            </a:r>
          </a:p>
          <a:p>
            <a:pPr algn="just">
              <a:lnSpc>
                <a:spcPct val="140000"/>
              </a:lnSpc>
            </a:pPr>
            <a:r>
              <a:rPr lang="en-US" sz="2000" dirty="0">
                <a:solidFill>
                  <a:schemeClr val="bg1"/>
                </a:solidFill>
                <a:latin typeface="Comic Sans MS" panose="030F0702030302020204" pitchFamily="66" charset="0"/>
              </a:rPr>
              <a:t>Candidates with no listed </a:t>
            </a:r>
            <a:r>
              <a:rPr lang="en-US" sz="2000" dirty="0" err="1">
                <a:solidFill>
                  <a:schemeClr val="bg1"/>
                </a:solidFill>
                <a:latin typeface="Comic Sans MS" panose="030F0702030302020204" pitchFamily="66" charset="0"/>
              </a:rPr>
              <a:t>company_size</a:t>
            </a:r>
            <a:r>
              <a:rPr lang="en-US" sz="2000" dirty="0">
                <a:solidFill>
                  <a:schemeClr val="bg1"/>
                </a:solidFill>
                <a:latin typeface="Comic Sans MS" panose="030F0702030302020204" pitchFamily="66" charset="0"/>
              </a:rPr>
              <a:t> or </a:t>
            </a:r>
            <a:r>
              <a:rPr lang="en-US" sz="2000" dirty="0" err="1">
                <a:solidFill>
                  <a:schemeClr val="bg1"/>
                </a:solidFill>
                <a:latin typeface="Comic Sans MS" panose="030F0702030302020204" pitchFamily="66" charset="0"/>
              </a:rPr>
              <a:t>company_type</a:t>
            </a:r>
            <a:r>
              <a:rPr lang="en-US" sz="2000" dirty="0">
                <a:solidFill>
                  <a:schemeClr val="bg1"/>
                </a:solidFill>
                <a:latin typeface="Comic Sans MS" panose="030F0702030302020204" pitchFamily="66" charset="0"/>
              </a:rPr>
              <a:t> had a noticeably higher job-change rate than those with a known value, so this was kept as its own signal instead of just being filled in.</a:t>
            </a:r>
            <a:endParaRPr lang="en-US" sz="2000" b="1" dirty="0">
              <a:solidFill>
                <a:schemeClr val="bg1"/>
              </a:solidFill>
              <a:latin typeface="Comic Sans MS" panose="030F0702030302020204" pitchFamily="66" charset="0"/>
              <a:ea typeface="HK Grotesk Medium"/>
              <a:cs typeface="HK Grotesk Medium"/>
              <a:sym typeface="HK Grotesk Medium"/>
            </a:endParaRPr>
          </a:p>
        </p:txBody>
      </p:sp>
      <p:sp>
        <p:nvSpPr>
          <p:cNvPr id="24" name="TextBox 7">
            <a:extLst>
              <a:ext uri="{FF2B5EF4-FFF2-40B4-BE49-F238E27FC236}">
                <a16:creationId xmlns:a16="http://schemas.microsoft.com/office/drawing/2014/main" id="{ACC85BCA-2557-D6FC-A497-FBE3ABA8C96B}"/>
              </a:ext>
            </a:extLst>
          </p:cNvPr>
          <p:cNvSpPr txBox="1"/>
          <p:nvPr/>
        </p:nvSpPr>
        <p:spPr>
          <a:xfrm>
            <a:off x="9527647" y="5600700"/>
            <a:ext cx="5650875" cy="1251946"/>
          </a:xfrm>
          <a:prstGeom prst="rect">
            <a:avLst/>
          </a:prstGeom>
        </p:spPr>
        <p:txBody>
          <a:bodyPr lIns="0" tIns="0" rIns="0" bIns="0" rtlCol="0" anchor="t">
            <a:spAutoFit/>
          </a:bodyPr>
          <a:lstStyle/>
          <a:p>
            <a:pPr algn="just">
              <a:lnSpc>
                <a:spcPct val="140000"/>
              </a:lnSpc>
            </a:pPr>
            <a:r>
              <a:rPr lang="en-US" sz="2000" dirty="0">
                <a:solidFill>
                  <a:schemeClr val="bg1"/>
                </a:solidFill>
                <a:latin typeface="Comic Sans MS" panose="030F0702030302020204" pitchFamily="66" charset="0"/>
              </a:rPr>
              <a:t>Class imbalance (75/25 split) needed to be addressed carefully during training without distorting predicted probabilities.</a:t>
            </a:r>
            <a:endParaRPr lang="en-US" sz="2000" b="1" dirty="0">
              <a:solidFill>
                <a:schemeClr val="bg1"/>
              </a:solidFill>
              <a:latin typeface="Comic Sans MS" panose="030F0702030302020204" pitchFamily="66" charset="0"/>
              <a:ea typeface="HK Grotesk Medium"/>
              <a:cs typeface="HK Grotesk Medium"/>
              <a:sym typeface="HK Grotesk Medium"/>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Freeform 2"/>
          <p:cNvSpPr/>
          <p:nvPr/>
        </p:nvSpPr>
        <p:spPr>
          <a:xfrm>
            <a:off x="0" y="0"/>
            <a:ext cx="3199864" cy="3188557"/>
          </a:xfrm>
          <a:custGeom>
            <a:avLst/>
            <a:gdLst/>
            <a:ahLst/>
            <a:cxnLst/>
            <a:rect l="l" t="t" r="r" b="b"/>
            <a:pathLst>
              <a:path w="3199864" h="3188557">
                <a:moveTo>
                  <a:pt x="0" y="0"/>
                </a:moveTo>
                <a:lnTo>
                  <a:pt x="3199864" y="0"/>
                </a:lnTo>
                <a:lnTo>
                  <a:pt x="3199864" y="3188557"/>
                </a:lnTo>
                <a:lnTo>
                  <a:pt x="0" y="3188557"/>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2811484" y="2921628"/>
            <a:ext cx="12665032" cy="2298072"/>
            <a:chOff x="0" y="0"/>
            <a:chExt cx="1628226" cy="495222"/>
          </a:xfrm>
        </p:grpSpPr>
        <p:sp>
          <p:nvSpPr>
            <p:cNvPr id="4" name="Freeform 4"/>
            <p:cNvSpPr/>
            <p:nvPr/>
          </p:nvSpPr>
          <p:spPr>
            <a:xfrm>
              <a:off x="0" y="0"/>
              <a:ext cx="1628226" cy="495222"/>
            </a:xfrm>
            <a:custGeom>
              <a:avLst/>
              <a:gdLst/>
              <a:ahLst/>
              <a:cxnLst/>
              <a:rect l="l" t="t" r="r" b="b"/>
              <a:pathLst>
                <a:path w="1628226" h="495222">
                  <a:moveTo>
                    <a:pt x="41326" y="0"/>
                  </a:moveTo>
                  <a:lnTo>
                    <a:pt x="1586900" y="0"/>
                  </a:lnTo>
                  <a:cubicBezTo>
                    <a:pt x="1609724" y="0"/>
                    <a:pt x="1628226" y="18502"/>
                    <a:pt x="1628226" y="41326"/>
                  </a:cubicBezTo>
                  <a:lnTo>
                    <a:pt x="1628226" y="453897"/>
                  </a:lnTo>
                  <a:cubicBezTo>
                    <a:pt x="1628226" y="476720"/>
                    <a:pt x="1609724" y="495222"/>
                    <a:pt x="1586900" y="495222"/>
                  </a:cubicBezTo>
                  <a:lnTo>
                    <a:pt x="41326" y="495222"/>
                  </a:lnTo>
                  <a:cubicBezTo>
                    <a:pt x="30366" y="495222"/>
                    <a:pt x="19854" y="490869"/>
                    <a:pt x="12104" y="483118"/>
                  </a:cubicBezTo>
                  <a:cubicBezTo>
                    <a:pt x="4354" y="475368"/>
                    <a:pt x="0" y="464857"/>
                    <a:pt x="0" y="453897"/>
                  </a:cubicBezTo>
                  <a:lnTo>
                    <a:pt x="0" y="41326"/>
                  </a:lnTo>
                  <a:cubicBezTo>
                    <a:pt x="0" y="30366"/>
                    <a:pt x="4354" y="19854"/>
                    <a:pt x="12104" y="12104"/>
                  </a:cubicBezTo>
                  <a:cubicBezTo>
                    <a:pt x="19854" y="4354"/>
                    <a:pt x="30366" y="0"/>
                    <a:pt x="41326"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5" name="TextBox 5"/>
            <p:cNvSpPr txBox="1"/>
            <p:nvPr/>
          </p:nvSpPr>
          <p:spPr>
            <a:xfrm>
              <a:off x="0" y="-38100"/>
              <a:ext cx="1628226" cy="533322"/>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2811484" y="5829300"/>
            <a:ext cx="12665032" cy="3079680"/>
            <a:chOff x="0" y="0"/>
            <a:chExt cx="1628226" cy="495222"/>
          </a:xfrm>
        </p:grpSpPr>
        <p:sp>
          <p:nvSpPr>
            <p:cNvPr id="12" name="Freeform 12"/>
            <p:cNvSpPr/>
            <p:nvPr/>
          </p:nvSpPr>
          <p:spPr>
            <a:xfrm>
              <a:off x="0" y="0"/>
              <a:ext cx="1628226" cy="495222"/>
            </a:xfrm>
            <a:custGeom>
              <a:avLst/>
              <a:gdLst/>
              <a:ahLst/>
              <a:cxnLst/>
              <a:rect l="l" t="t" r="r" b="b"/>
              <a:pathLst>
                <a:path w="1628226" h="495222">
                  <a:moveTo>
                    <a:pt x="41326" y="0"/>
                  </a:moveTo>
                  <a:lnTo>
                    <a:pt x="1586900" y="0"/>
                  </a:lnTo>
                  <a:cubicBezTo>
                    <a:pt x="1609724" y="0"/>
                    <a:pt x="1628226" y="18502"/>
                    <a:pt x="1628226" y="41326"/>
                  </a:cubicBezTo>
                  <a:lnTo>
                    <a:pt x="1628226" y="453897"/>
                  </a:lnTo>
                  <a:cubicBezTo>
                    <a:pt x="1628226" y="476720"/>
                    <a:pt x="1609724" y="495222"/>
                    <a:pt x="1586900" y="495222"/>
                  </a:cubicBezTo>
                  <a:lnTo>
                    <a:pt x="41326" y="495222"/>
                  </a:lnTo>
                  <a:cubicBezTo>
                    <a:pt x="30366" y="495222"/>
                    <a:pt x="19854" y="490869"/>
                    <a:pt x="12104" y="483118"/>
                  </a:cubicBezTo>
                  <a:cubicBezTo>
                    <a:pt x="4354" y="475368"/>
                    <a:pt x="0" y="464857"/>
                    <a:pt x="0" y="453897"/>
                  </a:cubicBezTo>
                  <a:lnTo>
                    <a:pt x="0" y="41326"/>
                  </a:lnTo>
                  <a:cubicBezTo>
                    <a:pt x="0" y="30366"/>
                    <a:pt x="4354" y="19854"/>
                    <a:pt x="12104" y="12104"/>
                  </a:cubicBezTo>
                  <a:cubicBezTo>
                    <a:pt x="19854" y="4354"/>
                    <a:pt x="30366" y="0"/>
                    <a:pt x="41326"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13" name="TextBox 13"/>
            <p:cNvSpPr txBox="1"/>
            <p:nvPr/>
          </p:nvSpPr>
          <p:spPr>
            <a:xfrm>
              <a:off x="0" y="-38100"/>
              <a:ext cx="1628226" cy="533322"/>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27"/>
          <p:cNvSpPr txBox="1"/>
          <p:nvPr/>
        </p:nvSpPr>
        <p:spPr>
          <a:xfrm>
            <a:off x="2992145" y="1190578"/>
            <a:ext cx="11966252" cy="868379"/>
          </a:xfrm>
          <a:prstGeom prst="rect">
            <a:avLst/>
          </a:prstGeom>
        </p:spPr>
        <p:txBody>
          <a:bodyPr lIns="0" tIns="0" rIns="0" bIns="0" rtlCol="0" anchor="t">
            <a:spAutoFit/>
          </a:bodyPr>
          <a:lstStyle/>
          <a:p>
            <a:pPr algn="ctr">
              <a:lnSpc>
                <a:spcPts val="6693"/>
              </a:lnSpc>
            </a:pPr>
            <a:r>
              <a:rPr lang="en-US" sz="6000" dirty="0">
                <a:solidFill>
                  <a:srgbClr val="CAE8FF"/>
                </a:solidFill>
                <a:latin typeface="HK Grotesk Bold" panose="020B0604020202020204" charset="0"/>
              </a:rPr>
              <a:t>Our Approach</a:t>
            </a:r>
            <a:endParaRPr lang="en-US" sz="5400" b="1" spc="382" dirty="0">
              <a:solidFill>
                <a:srgbClr val="CAE8FF"/>
              </a:solidFill>
              <a:latin typeface="HK Grotesk Bold" panose="020B0604020202020204" charset="0"/>
              <a:ea typeface="HK Grotesk Bold"/>
              <a:cs typeface="HK Grotesk Bold"/>
              <a:sym typeface="HK Grotesk Bold"/>
            </a:endParaRPr>
          </a:p>
        </p:txBody>
      </p:sp>
      <p:sp>
        <p:nvSpPr>
          <p:cNvPr id="29" name="TextBox 7">
            <a:extLst>
              <a:ext uri="{FF2B5EF4-FFF2-40B4-BE49-F238E27FC236}">
                <a16:creationId xmlns:a16="http://schemas.microsoft.com/office/drawing/2014/main" id="{DE405ECA-F5CA-7A84-F2EC-90E7CD7E66DC}"/>
              </a:ext>
            </a:extLst>
          </p:cNvPr>
          <p:cNvSpPr txBox="1"/>
          <p:nvPr/>
        </p:nvSpPr>
        <p:spPr>
          <a:xfrm>
            <a:off x="2992145" y="3001990"/>
            <a:ext cx="12400255" cy="1964897"/>
          </a:xfrm>
          <a:prstGeom prst="rect">
            <a:avLst/>
          </a:prstGeom>
        </p:spPr>
        <p:txBody>
          <a:bodyPr wrap="square" lIns="0" tIns="0" rIns="0" bIns="0" rtlCol="0" anchor="t">
            <a:spAutoFit/>
          </a:bodyPr>
          <a:lstStyle/>
          <a:p>
            <a:pPr marL="342900" lvl="0" indent="-342900">
              <a:lnSpc>
                <a:spcPct val="130000"/>
              </a:lnSpc>
              <a:buFont typeface="Arial" panose="020B0604020202020204" pitchFamily="34" charset="0"/>
              <a:buChar char="•"/>
            </a:pPr>
            <a:r>
              <a:rPr lang="en-US" sz="2000" dirty="0">
                <a:solidFill>
                  <a:schemeClr val="bg1"/>
                </a:solidFill>
                <a:latin typeface="Comic Sans MS" panose="030F0702030302020204" pitchFamily="66" charset="0"/>
              </a:rPr>
              <a:t>One scikit-learn pipeline, fit once, reusable on any new batch of candidates.</a:t>
            </a:r>
          </a:p>
          <a:p>
            <a:pPr marL="342900" lvl="0" indent="-342900">
              <a:lnSpc>
                <a:spcPct val="130000"/>
              </a:lnSpc>
              <a:buFont typeface="Arial" panose="020B0604020202020204" pitchFamily="34" charset="0"/>
              <a:buChar char="•"/>
            </a:pPr>
            <a:r>
              <a:rPr lang="en-US" sz="2000" dirty="0">
                <a:solidFill>
                  <a:schemeClr val="bg1"/>
                </a:solidFill>
                <a:latin typeface="Comic Sans MS" panose="030F0702030302020204" pitchFamily="66" charset="0"/>
              </a:rPr>
              <a:t>Clean: convert messy text values ('&gt;20', 'never') into real numbers.</a:t>
            </a:r>
          </a:p>
          <a:p>
            <a:pPr marL="342900" lvl="0" indent="-342900">
              <a:lnSpc>
                <a:spcPct val="130000"/>
              </a:lnSpc>
              <a:buFont typeface="Arial" panose="020B0604020202020204" pitchFamily="34" charset="0"/>
              <a:buChar char="•"/>
            </a:pPr>
            <a:r>
              <a:rPr lang="en-US" sz="2000" dirty="0">
                <a:solidFill>
                  <a:schemeClr val="bg1"/>
                </a:solidFill>
                <a:latin typeface="Comic Sans MS" panose="030F0702030302020204" pitchFamily="66" charset="0"/>
              </a:rPr>
              <a:t>Engineer: add features like a missing-company flag, job-change rate, training intensity.</a:t>
            </a:r>
          </a:p>
          <a:p>
            <a:pPr marL="342900" lvl="0" indent="-342900">
              <a:lnSpc>
                <a:spcPct val="130000"/>
              </a:lnSpc>
              <a:buFont typeface="Arial" panose="020B0604020202020204" pitchFamily="34" charset="0"/>
              <a:buChar char="•"/>
            </a:pPr>
            <a:r>
              <a:rPr lang="en-US" sz="2000" dirty="0">
                <a:solidFill>
                  <a:schemeClr val="bg1"/>
                </a:solidFill>
                <a:latin typeface="Comic Sans MS" panose="030F0702030302020204" pitchFamily="66" charset="0"/>
              </a:rPr>
              <a:t>Encode: impute, scale numeric features, ordinal-encode education/company size, one-hot encode the rest.</a:t>
            </a:r>
          </a:p>
        </p:txBody>
      </p:sp>
      <p:sp>
        <p:nvSpPr>
          <p:cNvPr id="31" name="TextBox 7">
            <a:extLst>
              <a:ext uri="{FF2B5EF4-FFF2-40B4-BE49-F238E27FC236}">
                <a16:creationId xmlns:a16="http://schemas.microsoft.com/office/drawing/2014/main" id="{8E22D1BB-7414-9A43-66A0-1D5ADC3DA558}"/>
              </a:ext>
            </a:extLst>
          </p:cNvPr>
          <p:cNvSpPr txBox="1"/>
          <p:nvPr/>
        </p:nvSpPr>
        <p:spPr>
          <a:xfrm>
            <a:off x="2943872" y="5952019"/>
            <a:ext cx="12400255" cy="1964897"/>
          </a:xfrm>
          <a:prstGeom prst="rect">
            <a:avLst/>
          </a:prstGeom>
        </p:spPr>
        <p:txBody>
          <a:bodyPr wrap="square" lIns="0" tIns="0" rIns="0" bIns="0" rtlCol="0" anchor="t">
            <a:spAutoFit/>
          </a:bodyPr>
          <a:lstStyle/>
          <a:p>
            <a:pPr marL="342900" lvl="0" indent="-342900">
              <a:lnSpc>
                <a:spcPct val="130000"/>
              </a:lnSpc>
              <a:buFont typeface="Arial" panose="020B0604020202020204" pitchFamily="34" charset="0"/>
              <a:buChar char="•"/>
            </a:pPr>
            <a:r>
              <a:rPr lang="en-US" sz="2000" dirty="0">
                <a:solidFill>
                  <a:schemeClr val="bg1"/>
                </a:solidFill>
                <a:latin typeface="Comic Sans MS" panose="030F0702030302020204" pitchFamily="66" charset="0"/>
              </a:rPr>
              <a:t>Balance: SMOTE oversamples the minority class, applied only during training, never on validation or test data.</a:t>
            </a:r>
          </a:p>
          <a:p>
            <a:pPr marL="342900" lvl="0" indent="-342900">
              <a:lnSpc>
                <a:spcPct val="130000"/>
              </a:lnSpc>
              <a:buFont typeface="Arial" panose="020B0604020202020204" pitchFamily="34" charset="0"/>
              <a:buChar char="•"/>
            </a:pPr>
            <a:r>
              <a:rPr lang="en-US" sz="2000" dirty="0">
                <a:solidFill>
                  <a:schemeClr val="bg1"/>
                </a:solidFill>
                <a:latin typeface="Comic Sans MS" panose="030F0702030302020204" pitchFamily="66" charset="0"/>
              </a:rPr>
              <a:t>Train &amp; tune: compare 7 classifiers, tune the top 4 with </a:t>
            </a:r>
            <a:r>
              <a:rPr lang="en-US" sz="2000" dirty="0" err="1">
                <a:solidFill>
                  <a:schemeClr val="bg1"/>
                </a:solidFill>
                <a:latin typeface="Comic Sans MS" panose="030F0702030302020204" pitchFamily="66" charset="0"/>
              </a:rPr>
              <a:t>RandomizedSearchCV</a:t>
            </a:r>
            <a:r>
              <a:rPr lang="en-US" sz="2000" dirty="0">
                <a:solidFill>
                  <a:schemeClr val="bg1"/>
                </a:solidFill>
                <a:latin typeface="Comic Sans MS" panose="030F0702030302020204" pitchFamily="66" charset="0"/>
              </a:rPr>
              <a:t> (3-fold CV).</a:t>
            </a:r>
          </a:p>
          <a:p>
            <a:pPr marL="342900" lvl="0" indent="-342900">
              <a:lnSpc>
                <a:spcPct val="130000"/>
              </a:lnSpc>
              <a:buFont typeface="Arial" panose="020B0604020202020204" pitchFamily="34" charset="0"/>
              <a:buChar char="•"/>
            </a:pPr>
            <a:r>
              <a:rPr lang="en-US" sz="2000" dirty="0">
                <a:solidFill>
                  <a:schemeClr val="bg1"/>
                </a:solidFill>
                <a:latin typeface="Comic Sans MS" panose="030F0702030302020204" pitchFamily="66" charset="0"/>
              </a:rPr>
              <a:t>Deploy: refit the best model on all training data, apply it to the real test set, save the pipeline with </a:t>
            </a:r>
            <a:r>
              <a:rPr lang="en-US" sz="2000" dirty="0" err="1">
                <a:solidFill>
                  <a:schemeClr val="bg1"/>
                </a:solidFill>
                <a:latin typeface="Comic Sans MS" panose="030F0702030302020204" pitchFamily="66" charset="0"/>
              </a:rPr>
              <a:t>joblib</a:t>
            </a:r>
            <a:r>
              <a:rPr lang="en-US" sz="2000" dirty="0">
                <a:solidFill>
                  <a:schemeClr val="bg1"/>
                </a:solidFill>
                <a:latin typeface="Comic Sans MS" panose="030F0702030302020204" pitchFamily="66" charset="0"/>
              </a:rPr>
              <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Freeform 2"/>
          <p:cNvSpPr/>
          <p:nvPr/>
        </p:nvSpPr>
        <p:spPr>
          <a:xfrm>
            <a:off x="0" y="6137402"/>
            <a:ext cx="4051960" cy="4149598"/>
          </a:xfrm>
          <a:custGeom>
            <a:avLst/>
            <a:gdLst/>
            <a:ahLst/>
            <a:cxnLst/>
            <a:rect l="l" t="t" r="r" b="b"/>
            <a:pathLst>
              <a:path w="4051960" h="4149598">
                <a:moveTo>
                  <a:pt x="0" y="0"/>
                </a:moveTo>
                <a:lnTo>
                  <a:pt x="4051960" y="0"/>
                </a:lnTo>
                <a:lnTo>
                  <a:pt x="4051960" y="4149598"/>
                </a:lnTo>
                <a:lnTo>
                  <a:pt x="0" y="4149598"/>
                </a:lnTo>
                <a:lnTo>
                  <a:pt x="0" y="0"/>
                </a:lnTo>
                <a:close/>
              </a:path>
            </a:pathLst>
          </a:custGeom>
          <a:blipFill>
            <a:blip r:embed="rId2"/>
            <a:stretch>
              <a:fillRect/>
            </a:stretch>
          </a:blipFill>
        </p:spPr>
        <p:txBody>
          <a:bodyPr/>
          <a:lstStyle/>
          <a:p>
            <a:endParaRPr lang="en-US"/>
          </a:p>
        </p:txBody>
      </p:sp>
      <p:sp>
        <p:nvSpPr>
          <p:cNvPr id="3" name="Freeform 3"/>
          <p:cNvSpPr/>
          <p:nvPr/>
        </p:nvSpPr>
        <p:spPr>
          <a:xfrm>
            <a:off x="1028700" y="2165759"/>
            <a:ext cx="6483335" cy="3971643"/>
          </a:xfrm>
          <a:custGeom>
            <a:avLst/>
            <a:gdLst/>
            <a:ahLst/>
            <a:cxnLst/>
            <a:rect l="l" t="t" r="r" b="b"/>
            <a:pathLst>
              <a:path w="6483335" h="3971643">
                <a:moveTo>
                  <a:pt x="0" y="0"/>
                </a:moveTo>
                <a:lnTo>
                  <a:pt x="6483335" y="0"/>
                </a:lnTo>
                <a:lnTo>
                  <a:pt x="6483335" y="3971643"/>
                </a:lnTo>
                <a:lnTo>
                  <a:pt x="0" y="3971643"/>
                </a:lnTo>
                <a:lnTo>
                  <a:pt x="0" y="0"/>
                </a:lnTo>
                <a:close/>
              </a:path>
            </a:pathLst>
          </a:custGeom>
          <a:blipFill>
            <a:blip r:embed="rId3"/>
            <a:stretch>
              <a:fillRect/>
            </a:stretch>
          </a:blipFill>
        </p:spPr>
        <p:txBody>
          <a:bodyPr/>
          <a:lstStyle/>
          <a:p>
            <a:endParaRPr lang="en-US"/>
          </a:p>
        </p:txBody>
      </p:sp>
      <p:sp>
        <p:nvSpPr>
          <p:cNvPr id="4" name="Freeform 4"/>
          <p:cNvSpPr/>
          <p:nvPr/>
        </p:nvSpPr>
        <p:spPr>
          <a:xfrm rot="1660044" flipV="1">
            <a:off x="3949002" y="-507401"/>
            <a:ext cx="7480507" cy="3194316"/>
          </a:xfrm>
          <a:custGeom>
            <a:avLst/>
            <a:gdLst/>
            <a:ahLst/>
            <a:cxnLst/>
            <a:rect l="l" t="t" r="r" b="b"/>
            <a:pathLst>
              <a:path w="7480507" h="3194316">
                <a:moveTo>
                  <a:pt x="0" y="3194316"/>
                </a:moveTo>
                <a:lnTo>
                  <a:pt x="7480507" y="3194316"/>
                </a:lnTo>
                <a:lnTo>
                  <a:pt x="7480507" y="0"/>
                </a:lnTo>
                <a:lnTo>
                  <a:pt x="0" y="0"/>
                </a:lnTo>
                <a:lnTo>
                  <a:pt x="0" y="3194316"/>
                </a:lnTo>
                <a:close/>
              </a:path>
            </a:pathLst>
          </a:custGeom>
          <a:blipFill>
            <a:blip r:embed="rId4"/>
            <a:stretch>
              <a:fillRect/>
            </a:stretch>
          </a:blipFill>
        </p:spPr>
        <p:txBody>
          <a:bodyPr/>
          <a:lstStyle/>
          <a:p>
            <a:endParaRPr lang="en-US"/>
          </a:p>
        </p:txBody>
      </p:sp>
      <p:grpSp>
        <p:nvGrpSpPr>
          <p:cNvPr id="5" name="Group 5"/>
          <p:cNvGrpSpPr/>
          <p:nvPr/>
        </p:nvGrpSpPr>
        <p:grpSpPr>
          <a:xfrm>
            <a:off x="9080020" y="3695700"/>
            <a:ext cx="8179280" cy="4985191"/>
            <a:chOff x="0" y="0"/>
            <a:chExt cx="2154214" cy="866771"/>
          </a:xfrm>
        </p:grpSpPr>
        <p:sp>
          <p:nvSpPr>
            <p:cNvPr id="6" name="Freeform 6"/>
            <p:cNvSpPr/>
            <p:nvPr/>
          </p:nvSpPr>
          <p:spPr>
            <a:xfrm>
              <a:off x="0" y="0"/>
              <a:ext cx="2154214" cy="866771"/>
            </a:xfrm>
            <a:custGeom>
              <a:avLst/>
              <a:gdLst/>
              <a:ahLst/>
              <a:cxnLst/>
              <a:rect l="l" t="t" r="r" b="b"/>
              <a:pathLst>
                <a:path w="2154214" h="866771">
                  <a:moveTo>
                    <a:pt x="31235" y="0"/>
                  </a:moveTo>
                  <a:lnTo>
                    <a:pt x="2122978" y="0"/>
                  </a:lnTo>
                  <a:cubicBezTo>
                    <a:pt x="2131262" y="0"/>
                    <a:pt x="2139207" y="3291"/>
                    <a:pt x="2145065" y="9149"/>
                  </a:cubicBezTo>
                  <a:cubicBezTo>
                    <a:pt x="2150923" y="15006"/>
                    <a:pt x="2154214" y="22951"/>
                    <a:pt x="2154214" y="31235"/>
                  </a:cubicBezTo>
                  <a:lnTo>
                    <a:pt x="2154214" y="835536"/>
                  </a:lnTo>
                  <a:cubicBezTo>
                    <a:pt x="2154214" y="843820"/>
                    <a:pt x="2150923" y="851764"/>
                    <a:pt x="2145065" y="857622"/>
                  </a:cubicBezTo>
                  <a:cubicBezTo>
                    <a:pt x="2139207" y="863480"/>
                    <a:pt x="2131262" y="866771"/>
                    <a:pt x="2122978" y="866771"/>
                  </a:cubicBezTo>
                  <a:lnTo>
                    <a:pt x="31235" y="866771"/>
                  </a:lnTo>
                  <a:cubicBezTo>
                    <a:pt x="13985" y="866771"/>
                    <a:pt x="0" y="852786"/>
                    <a:pt x="0" y="835536"/>
                  </a:cubicBezTo>
                  <a:lnTo>
                    <a:pt x="0" y="31235"/>
                  </a:lnTo>
                  <a:cubicBezTo>
                    <a:pt x="0" y="22951"/>
                    <a:pt x="3291" y="15006"/>
                    <a:pt x="9149" y="9149"/>
                  </a:cubicBezTo>
                  <a:cubicBezTo>
                    <a:pt x="15006" y="3291"/>
                    <a:pt x="22951" y="0"/>
                    <a:pt x="31235"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7" name="TextBox 7"/>
            <p:cNvSpPr txBox="1"/>
            <p:nvPr/>
          </p:nvSpPr>
          <p:spPr>
            <a:xfrm>
              <a:off x="0" y="-38100"/>
              <a:ext cx="2154214" cy="904871"/>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9683653" y="3933786"/>
            <a:ext cx="6972009" cy="4278415"/>
          </a:xfrm>
          <a:prstGeom prst="rect">
            <a:avLst/>
          </a:prstGeom>
        </p:spPr>
        <p:txBody>
          <a:bodyPr lIns="0" tIns="0" rIns="0" bIns="0" rtlCol="0" anchor="t">
            <a:spAutoFit/>
          </a:bodyPr>
          <a:lstStyle/>
          <a:p>
            <a:pPr rtl="0">
              <a:lnSpc>
                <a:spcPct val="130000"/>
              </a:lnSpc>
              <a:buNone/>
            </a:pPr>
            <a:r>
              <a:rPr lang="en-US" sz="2400" dirty="0">
                <a:solidFill>
                  <a:schemeClr val="bg1"/>
                </a:solidFill>
                <a:latin typeface="Comic Sans MS" panose="030F0702030302020204" pitchFamily="66" charset="0"/>
              </a:rPr>
              <a:t>ROC-AUC on the held-out validation set:</a:t>
            </a:r>
          </a:p>
          <a:p>
            <a:pPr marL="342900" lvl="0" indent="-342900" rtl="0">
              <a:lnSpc>
                <a:spcPct val="130000"/>
              </a:lnSpc>
              <a:buFont typeface="Arial" panose="020B0604020202020204" pitchFamily="34" charset="0"/>
              <a:buChar char="•"/>
            </a:pPr>
            <a:r>
              <a:rPr lang="en-US" sz="2400" dirty="0" err="1">
                <a:solidFill>
                  <a:schemeClr val="bg1"/>
                </a:solidFill>
                <a:latin typeface="Comic Sans MS" panose="030F0702030302020204" pitchFamily="66" charset="0"/>
              </a:rPr>
              <a:t>LightGBM</a:t>
            </a:r>
            <a:r>
              <a:rPr lang="en-US" sz="2400" dirty="0">
                <a:solidFill>
                  <a:schemeClr val="bg1"/>
                </a:solidFill>
                <a:latin typeface="Comic Sans MS" panose="030F0702030302020204" pitchFamily="66" charset="0"/>
              </a:rPr>
              <a:t>: 0.814</a:t>
            </a:r>
          </a:p>
          <a:p>
            <a:pPr marL="342900" lvl="0" indent="-342900" rtl="0">
              <a:lnSpc>
                <a:spcPct val="130000"/>
              </a:lnSpc>
              <a:buFont typeface="Arial" panose="020B0604020202020204" pitchFamily="34" charset="0"/>
              <a:buChar char="•"/>
            </a:pPr>
            <a:r>
              <a:rPr lang="en-US" sz="2400" dirty="0" err="1">
                <a:solidFill>
                  <a:schemeClr val="bg1"/>
                </a:solidFill>
                <a:latin typeface="Comic Sans MS" panose="030F0702030302020204" pitchFamily="66" charset="0"/>
              </a:rPr>
              <a:t>XGBoost</a:t>
            </a:r>
            <a:r>
              <a:rPr lang="en-US" sz="2400" dirty="0">
                <a:solidFill>
                  <a:schemeClr val="bg1"/>
                </a:solidFill>
                <a:latin typeface="Comic Sans MS" panose="030F0702030302020204" pitchFamily="66" charset="0"/>
              </a:rPr>
              <a:t>: 0.812</a:t>
            </a:r>
          </a:p>
          <a:p>
            <a:pPr marL="342900" lvl="0" indent="-342900" rtl="0">
              <a:lnSpc>
                <a:spcPct val="130000"/>
              </a:lnSpc>
              <a:buFont typeface="Arial" panose="020B0604020202020204" pitchFamily="34" charset="0"/>
              <a:buChar char="•"/>
            </a:pPr>
            <a:r>
              <a:rPr lang="en-US" sz="2400" dirty="0">
                <a:solidFill>
                  <a:schemeClr val="bg1"/>
                </a:solidFill>
                <a:latin typeface="Comic Sans MS" panose="030F0702030302020204" pitchFamily="66" charset="0"/>
              </a:rPr>
              <a:t>Random Forest: 0.806</a:t>
            </a:r>
          </a:p>
          <a:p>
            <a:pPr marL="342900" lvl="0" indent="-342900" rtl="0">
              <a:lnSpc>
                <a:spcPct val="130000"/>
              </a:lnSpc>
              <a:buFont typeface="Arial" panose="020B0604020202020204" pitchFamily="34" charset="0"/>
              <a:buChar char="•"/>
            </a:pPr>
            <a:r>
              <a:rPr lang="en-US" sz="2400" dirty="0">
                <a:solidFill>
                  <a:schemeClr val="bg1"/>
                </a:solidFill>
                <a:latin typeface="Comic Sans MS" panose="030F0702030302020204" pitchFamily="66" charset="0"/>
              </a:rPr>
              <a:t>SVM: 0.803</a:t>
            </a:r>
          </a:p>
          <a:p>
            <a:pPr marL="342900" lvl="0" indent="-342900" rtl="0">
              <a:lnSpc>
                <a:spcPct val="130000"/>
              </a:lnSpc>
              <a:buFont typeface="Arial" panose="020B0604020202020204" pitchFamily="34" charset="0"/>
              <a:buChar char="•"/>
            </a:pPr>
            <a:r>
              <a:rPr lang="en-US" sz="2400" dirty="0">
                <a:solidFill>
                  <a:schemeClr val="bg1"/>
                </a:solidFill>
                <a:latin typeface="Comic Sans MS" panose="030F0702030302020204" pitchFamily="66" charset="0"/>
              </a:rPr>
              <a:t>Logistic Regression: 0.790</a:t>
            </a:r>
          </a:p>
          <a:p>
            <a:pPr marL="342900" lvl="0" indent="-342900" rtl="0">
              <a:lnSpc>
                <a:spcPct val="130000"/>
              </a:lnSpc>
              <a:buFont typeface="Arial" panose="020B0604020202020204" pitchFamily="34" charset="0"/>
              <a:buChar char="•"/>
            </a:pPr>
            <a:r>
              <a:rPr lang="en-US" sz="2400" dirty="0">
                <a:solidFill>
                  <a:schemeClr val="bg1"/>
                </a:solidFill>
                <a:latin typeface="Comic Sans MS" panose="030F0702030302020204" pitchFamily="66" charset="0"/>
              </a:rPr>
              <a:t>KNN: 0.729</a:t>
            </a:r>
          </a:p>
          <a:p>
            <a:pPr marL="342900" lvl="0" indent="-342900" rtl="0">
              <a:lnSpc>
                <a:spcPct val="130000"/>
              </a:lnSpc>
              <a:buFont typeface="Arial" panose="020B0604020202020204" pitchFamily="34" charset="0"/>
              <a:buChar char="•"/>
            </a:pPr>
            <a:r>
              <a:rPr lang="en-US" sz="2400" dirty="0">
                <a:solidFill>
                  <a:schemeClr val="bg1"/>
                </a:solidFill>
                <a:latin typeface="Comic Sans MS" panose="030F0702030302020204" pitchFamily="66" charset="0"/>
              </a:rPr>
              <a:t>Decision Tree: 0.639</a:t>
            </a:r>
          </a:p>
          <a:p>
            <a:pPr rtl="0">
              <a:lnSpc>
                <a:spcPct val="130000"/>
              </a:lnSpc>
              <a:buNone/>
            </a:pPr>
            <a:r>
              <a:rPr lang="en-US" sz="2400" dirty="0">
                <a:solidFill>
                  <a:schemeClr val="bg1"/>
                </a:solidFill>
                <a:latin typeface="Comic Sans MS" panose="030F0702030302020204" pitchFamily="66" charset="0"/>
              </a:rPr>
              <a:t>Best model: </a:t>
            </a:r>
            <a:r>
              <a:rPr lang="en-US" sz="2400" dirty="0" err="1">
                <a:solidFill>
                  <a:schemeClr val="bg1"/>
                </a:solidFill>
                <a:latin typeface="Comic Sans MS" panose="030F0702030302020204" pitchFamily="66" charset="0"/>
              </a:rPr>
              <a:t>LightGBM</a:t>
            </a:r>
            <a:r>
              <a:rPr lang="en-US" sz="2400" dirty="0">
                <a:solidFill>
                  <a:schemeClr val="bg1"/>
                </a:solidFill>
                <a:latin typeface="Comic Sans MS" panose="030F0702030302020204" pitchFamily="66" charset="0"/>
              </a:rPr>
              <a:t> (tuned), ROC-AUC 0.814</a:t>
            </a:r>
          </a:p>
        </p:txBody>
      </p:sp>
      <p:sp>
        <p:nvSpPr>
          <p:cNvPr id="9" name="TextBox 9"/>
          <p:cNvSpPr txBox="1"/>
          <p:nvPr/>
        </p:nvSpPr>
        <p:spPr>
          <a:xfrm>
            <a:off x="10340322" y="952500"/>
            <a:ext cx="5658673" cy="1778564"/>
          </a:xfrm>
          <a:prstGeom prst="rect">
            <a:avLst/>
          </a:prstGeom>
        </p:spPr>
        <p:txBody>
          <a:bodyPr lIns="0" tIns="0" rIns="0" bIns="0" rtlCol="0" anchor="t">
            <a:spAutoFit/>
          </a:bodyPr>
          <a:lstStyle/>
          <a:p>
            <a:pPr algn="ctr">
              <a:lnSpc>
                <a:spcPts val="7000"/>
              </a:lnSpc>
            </a:pPr>
            <a:r>
              <a:rPr lang="en-US" sz="5400" dirty="0">
                <a:solidFill>
                  <a:srgbClr val="CAE8FF"/>
                </a:solidFill>
                <a:latin typeface="HK Grotesk Bold" panose="020B0604020202020204" charset="0"/>
              </a:rPr>
              <a:t>Model Comparison</a:t>
            </a:r>
            <a:endParaRPr lang="en-US" sz="5000" b="1" spc="400" dirty="0">
              <a:solidFill>
                <a:srgbClr val="CAE8FF"/>
              </a:solidFill>
              <a:latin typeface="HK Grotesk Bold" panose="020B0604020202020204" charset="0"/>
              <a:ea typeface="HK Grotesk Bold"/>
              <a:cs typeface="HK Grotesk Bold"/>
              <a:sym typeface="HK Grotesk Bo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a:extLst>
            <a:ext uri="{FF2B5EF4-FFF2-40B4-BE49-F238E27FC236}">
              <a16:creationId xmlns:a16="http://schemas.microsoft.com/office/drawing/2014/main" id="{1E84CEA5-00A3-11E3-8AB6-4E566202697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2CE69A3-5971-A703-D73E-AC4D3E3C206D}"/>
              </a:ext>
            </a:extLst>
          </p:cNvPr>
          <p:cNvSpPr/>
          <p:nvPr/>
        </p:nvSpPr>
        <p:spPr>
          <a:xfrm>
            <a:off x="12801600" y="2552700"/>
            <a:ext cx="4051960" cy="4149598"/>
          </a:xfrm>
          <a:custGeom>
            <a:avLst/>
            <a:gdLst/>
            <a:ahLst/>
            <a:cxnLst/>
            <a:rect l="l" t="t" r="r" b="b"/>
            <a:pathLst>
              <a:path w="4051960" h="4149598">
                <a:moveTo>
                  <a:pt x="0" y="0"/>
                </a:moveTo>
                <a:lnTo>
                  <a:pt x="4051960" y="0"/>
                </a:lnTo>
                <a:lnTo>
                  <a:pt x="4051960" y="4149598"/>
                </a:lnTo>
                <a:lnTo>
                  <a:pt x="0" y="4149598"/>
                </a:lnTo>
                <a:lnTo>
                  <a:pt x="0" y="0"/>
                </a:lnTo>
                <a:close/>
              </a:path>
            </a:pathLst>
          </a:custGeom>
          <a:blipFill>
            <a:blip r:embed="rId2"/>
            <a:stretch>
              <a:fillRect/>
            </a:stretch>
          </a:blipFill>
        </p:spPr>
        <p:txBody>
          <a:bodyPr/>
          <a:lstStyle/>
          <a:p>
            <a:endParaRPr lang="en-US" dirty="0"/>
          </a:p>
        </p:txBody>
      </p:sp>
      <p:sp>
        <p:nvSpPr>
          <p:cNvPr id="3" name="Freeform 3">
            <a:extLst>
              <a:ext uri="{FF2B5EF4-FFF2-40B4-BE49-F238E27FC236}">
                <a16:creationId xmlns:a16="http://schemas.microsoft.com/office/drawing/2014/main" id="{F8ED9736-A51A-7CF9-1B2C-2D1012835856}"/>
              </a:ext>
            </a:extLst>
          </p:cNvPr>
          <p:cNvSpPr/>
          <p:nvPr/>
        </p:nvSpPr>
        <p:spPr>
          <a:xfrm rot="19430737">
            <a:off x="13756899" y="6444954"/>
            <a:ext cx="6483335" cy="3971643"/>
          </a:xfrm>
          <a:custGeom>
            <a:avLst/>
            <a:gdLst/>
            <a:ahLst/>
            <a:cxnLst/>
            <a:rect l="l" t="t" r="r" b="b"/>
            <a:pathLst>
              <a:path w="6483335" h="3971643">
                <a:moveTo>
                  <a:pt x="0" y="0"/>
                </a:moveTo>
                <a:lnTo>
                  <a:pt x="6483335" y="0"/>
                </a:lnTo>
                <a:lnTo>
                  <a:pt x="6483335" y="3971643"/>
                </a:lnTo>
                <a:lnTo>
                  <a:pt x="0" y="3971643"/>
                </a:lnTo>
                <a:lnTo>
                  <a:pt x="0" y="0"/>
                </a:lnTo>
                <a:close/>
              </a:path>
            </a:pathLst>
          </a:custGeom>
          <a:blipFill>
            <a:blip r:embed="rId3"/>
            <a:stretch>
              <a:fillRect/>
            </a:stretch>
          </a:blipFill>
        </p:spPr>
        <p:txBody>
          <a:bodyPr/>
          <a:lstStyle/>
          <a:p>
            <a:endParaRPr lang="en-US"/>
          </a:p>
        </p:txBody>
      </p:sp>
      <p:sp>
        <p:nvSpPr>
          <p:cNvPr id="4" name="Freeform 4">
            <a:extLst>
              <a:ext uri="{FF2B5EF4-FFF2-40B4-BE49-F238E27FC236}">
                <a16:creationId xmlns:a16="http://schemas.microsoft.com/office/drawing/2014/main" id="{BFE20512-6962-51A9-9095-7D60167FCE07}"/>
              </a:ext>
            </a:extLst>
          </p:cNvPr>
          <p:cNvSpPr/>
          <p:nvPr/>
        </p:nvSpPr>
        <p:spPr>
          <a:xfrm rot="14506507" flipV="1">
            <a:off x="11820152" y="-580527"/>
            <a:ext cx="7480507" cy="3194316"/>
          </a:xfrm>
          <a:custGeom>
            <a:avLst/>
            <a:gdLst/>
            <a:ahLst/>
            <a:cxnLst/>
            <a:rect l="l" t="t" r="r" b="b"/>
            <a:pathLst>
              <a:path w="7480507" h="3194316">
                <a:moveTo>
                  <a:pt x="0" y="3194316"/>
                </a:moveTo>
                <a:lnTo>
                  <a:pt x="7480507" y="3194316"/>
                </a:lnTo>
                <a:lnTo>
                  <a:pt x="7480507" y="0"/>
                </a:lnTo>
                <a:lnTo>
                  <a:pt x="0" y="0"/>
                </a:lnTo>
                <a:lnTo>
                  <a:pt x="0" y="3194316"/>
                </a:lnTo>
                <a:close/>
              </a:path>
            </a:pathLst>
          </a:custGeom>
          <a:blipFill>
            <a:blip r:embed="rId4"/>
            <a:stretch>
              <a:fillRect/>
            </a:stretch>
          </a:blipFill>
        </p:spPr>
        <p:txBody>
          <a:bodyPr/>
          <a:lstStyle/>
          <a:p>
            <a:endParaRPr lang="en-US"/>
          </a:p>
        </p:txBody>
      </p:sp>
      <p:grpSp>
        <p:nvGrpSpPr>
          <p:cNvPr id="5" name="Group 5">
            <a:extLst>
              <a:ext uri="{FF2B5EF4-FFF2-40B4-BE49-F238E27FC236}">
                <a16:creationId xmlns:a16="http://schemas.microsoft.com/office/drawing/2014/main" id="{0AE6051E-A7B9-C0CB-1599-A5B775ABD15B}"/>
              </a:ext>
            </a:extLst>
          </p:cNvPr>
          <p:cNvGrpSpPr/>
          <p:nvPr/>
        </p:nvGrpSpPr>
        <p:grpSpPr>
          <a:xfrm>
            <a:off x="685800" y="3739709"/>
            <a:ext cx="9067800" cy="6051991"/>
            <a:chOff x="0" y="0"/>
            <a:chExt cx="2154214" cy="866771"/>
          </a:xfrm>
        </p:grpSpPr>
        <p:sp>
          <p:nvSpPr>
            <p:cNvPr id="6" name="Freeform 6">
              <a:extLst>
                <a:ext uri="{FF2B5EF4-FFF2-40B4-BE49-F238E27FC236}">
                  <a16:creationId xmlns:a16="http://schemas.microsoft.com/office/drawing/2014/main" id="{8CDB36D1-90A8-E649-DC60-B377110D9590}"/>
                </a:ext>
              </a:extLst>
            </p:cNvPr>
            <p:cNvSpPr/>
            <p:nvPr/>
          </p:nvSpPr>
          <p:spPr>
            <a:xfrm>
              <a:off x="0" y="0"/>
              <a:ext cx="2154214" cy="866771"/>
            </a:xfrm>
            <a:custGeom>
              <a:avLst/>
              <a:gdLst/>
              <a:ahLst/>
              <a:cxnLst/>
              <a:rect l="l" t="t" r="r" b="b"/>
              <a:pathLst>
                <a:path w="2154214" h="866771">
                  <a:moveTo>
                    <a:pt x="31235" y="0"/>
                  </a:moveTo>
                  <a:lnTo>
                    <a:pt x="2122978" y="0"/>
                  </a:lnTo>
                  <a:cubicBezTo>
                    <a:pt x="2131262" y="0"/>
                    <a:pt x="2139207" y="3291"/>
                    <a:pt x="2145065" y="9149"/>
                  </a:cubicBezTo>
                  <a:cubicBezTo>
                    <a:pt x="2150923" y="15006"/>
                    <a:pt x="2154214" y="22951"/>
                    <a:pt x="2154214" y="31235"/>
                  </a:cubicBezTo>
                  <a:lnTo>
                    <a:pt x="2154214" y="835536"/>
                  </a:lnTo>
                  <a:cubicBezTo>
                    <a:pt x="2154214" y="843820"/>
                    <a:pt x="2150923" y="851764"/>
                    <a:pt x="2145065" y="857622"/>
                  </a:cubicBezTo>
                  <a:cubicBezTo>
                    <a:pt x="2139207" y="863480"/>
                    <a:pt x="2131262" y="866771"/>
                    <a:pt x="2122978" y="866771"/>
                  </a:cubicBezTo>
                  <a:lnTo>
                    <a:pt x="31235" y="866771"/>
                  </a:lnTo>
                  <a:cubicBezTo>
                    <a:pt x="13985" y="866771"/>
                    <a:pt x="0" y="852786"/>
                    <a:pt x="0" y="835536"/>
                  </a:cubicBezTo>
                  <a:lnTo>
                    <a:pt x="0" y="31235"/>
                  </a:lnTo>
                  <a:cubicBezTo>
                    <a:pt x="0" y="22951"/>
                    <a:pt x="3291" y="15006"/>
                    <a:pt x="9149" y="9149"/>
                  </a:cubicBezTo>
                  <a:cubicBezTo>
                    <a:pt x="15006" y="3291"/>
                    <a:pt x="22951" y="0"/>
                    <a:pt x="31235"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7" name="TextBox 7">
              <a:extLst>
                <a:ext uri="{FF2B5EF4-FFF2-40B4-BE49-F238E27FC236}">
                  <a16:creationId xmlns:a16="http://schemas.microsoft.com/office/drawing/2014/main" id="{4FF0E8BF-13B3-AF73-9C7A-F84D8C3D8CEF}"/>
                </a:ext>
              </a:extLst>
            </p:cNvPr>
            <p:cNvSpPr txBox="1"/>
            <p:nvPr/>
          </p:nvSpPr>
          <p:spPr>
            <a:xfrm>
              <a:off x="0" y="-38100"/>
              <a:ext cx="2154214" cy="904871"/>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a:extLst>
              <a:ext uri="{FF2B5EF4-FFF2-40B4-BE49-F238E27FC236}">
                <a16:creationId xmlns:a16="http://schemas.microsoft.com/office/drawing/2014/main" id="{BE8198A6-EC0D-D0B3-CAD1-32F5CAC66F9F}"/>
              </a:ext>
            </a:extLst>
          </p:cNvPr>
          <p:cNvSpPr txBox="1"/>
          <p:nvPr/>
        </p:nvSpPr>
        <p:spPr>
          <a:xfrm>
            <a:off x="1289433" y="3977795"/>
            <a:ext cx="8387967" cy="5238678"/>
          </a:xfrm>
          <a:prstGeom prst="rect">
            <a:avLst/>
          </a:prstGeom>
        </p:spPr>
        <p:txBody>
          <a:bodyPr wrap="square" lIns="0" tIns="0" rIns="0" bIns="0" rtlCol="0" anchor="t">
            <a:spAutoFit/>
          </a:bodyPr>
          <a:lstStyle/>
          <a:p>
            <a:pPr>
              <a:lnSpc>
                <a:spcPct val="130000"/>
              </a:lnSpc>
            </a:pPr>
            <a:r>
              <a:rPr lang="en-US" sz="2400" dirty="0">
                <a:solidFill>
                  <a:schemeClr val="bg1"/>
                </a:solidFill>
                <a:latin typeface="Comic Sans MS" panose="030F0702030302020204" pitchFamily="66" charset="0"/>
              </a:rPr>
              <a:t>Tuned </a:t>
            </a:r>
            <a:r>
              <a:rPr lang="en-US" sz="2400" dirty="0" err="1">
                <a:solidFill>
                  <a:schemeClr val="bg1"/>
                </a:solidFill>
                <a:latin typeface="Comic Sans MS" panose="030F0702030302020204" pitchFamily="66" charset="0"/>
              </a:rPr>
              <a:t>LightGBM</a:t>
            </a:r>
            <a:r>
              <a:rPr lang="en-US" sz="2400" dirty="0">
                <a:solidFill>
                  <a:schemeClr val="bg1"/>
                </a:solidFill>
                <a:latin typeface="Comic Sans MS" panose="030F0702030302020204" pitchFamily="66" charset="0"/>
              </a:rPr>
              <a:t>, evaluated on 3,832 held-out candidates:</a:t>
            </a:r>
          </a:p>
          <a:p>
            <a:pPr marL="800100" lvl="1" indent="-342900">
              <a:lnSpc>
                <a:spcPct val="130000"/>
              </a:lnSpc>
              <a:buFont typeface="Wingdings" panose="05000000000000000000" pitchFamily="2" charset="2"/>
              <a:buChar char="Ø"/>
            </a:pPr>
            <a:r>
              <a:rPr lang="en-US" sz="2400" dirty="0">
                <a:solidFill>
                  <a:schemeClr val="bg1"/>
                </a:solidFill>
                <a:latin typeface="Comic Sans MS" panose="030F0702030302020204" pitchFamily="66" charset="0"/>
              </a:rPr>
              <a:t>ROC-AUC: 0.814</a:t>
            </a:r>
          </a:p>
          <a:p>
            <a:pPr marL="800100" lvl="1" indent="-342900">
              <a:lnSpc>
                <a:spcPct val="130000"/>
              </a:lnSpc>
              <a:buFont typeface="Wingdings" panose="05000000000000000000" pitchFamily="2" charset="2"/>
              <a:buChar char="Ø"/>
            </a:pPr>
            <a:r>
              <a:rPr lang="en-US" sz="2400" dirty="0">
                <a:solidFill>
                  <a:schemeClr val="bg1"/>
                </a:solidFill>
                <a:latin typeface="Comic Sans MS" panose="030F0702030302020204" pitchFamily="66" charset="0"/>
              </a:rPr>
              <a:t>Overall accuracy: 79%</a:t>
            </a:r>
          </a:p>
          <a:p>
            <a:pPr marL="800100" lvl="1" indent="-342900">
              <a:lnSpc>
                <a:spcPct val="130000"/>
              </a:lnSpc>
              <a:buFont typeface="Wingdings" panose="05000000000000000000" pitchFamily="2" charset="2"/>
              <a:buChar char="Ø"/>
            </a:pPr>
            <a:r>
              <a:rPr lang="en-US" sz="2400" dirty="0">
                <a:solidFill>
                  <a:schemeClr val="bg1"/>
                </a:solidFill>
                <a:latin typeface="Comic Sans MS" panose="030F0702030302020204" pitchFamily="66" charset="0"/>
              </a:rPr>
              <a:t>Recall for job seekers: 76%</a:t>
            </a:r>
          </a:p>
          <a:p>
            <a:pPr marL="800100" lvl="1" indent="-342900">
              <a:lnSpc>
                <a:spcPct val="130000"/>
              </a:lnSpc>
              <a:buFont typeface="Wingdings" panose="05000000000000000000" pitchFamily="2" charset="2"/>
              <a:buChar char="Ø"/>
            </a:pPr>
            <a:r>
              <a:rPr lang="en-US" sz="2400" dirty="0">
                <a:solidFill>
                  <a:schemeClr val="bg1"/>
                </a:solidFill>
                <a:latin typeface="Comic Sans MS" panose="030F0702030302020204" pitchFamily="66" charset="0"/>
              </a:rPr>
              <a:t>Precision for job seekers: 55%</a:t>
            </a:r>
            <a:br>
              <a:rPr lang="en-US" sz="2400" dirty="0">
                <a:solidFill>
                  <a:schemeClr val="bg1"/>
                </a:solidFill>
                <a:latin typeface="Comic Sans MS" panose="030F0702030302020204" pitchFamily="66" charset="0"/>
              </a:rPr>
            </a:br>
            <a:endParaRPr lang="en-US" sz="2400" dirty="0">
              <a:solidFill>
                <a:schemeClr val="bg1"/>
              </a:solidFill>
              <a:latin typeface="Comic Sans MS" panose="030F0702030302020204" pitchFamily="66" charset="0"/>
            </a:endParaRPr>
          </a:p>
          <a:p>
            <a:pPr>
              <a:lnSpc>
                <a:spcPct val="130000"/>
              </a:lnSpc>
            </a:pPr>
            <a:r>
              <a:rPr lang="en-US" sz="2400" dirty="0">
                <a:solidFill>
                  <a:schemeClr val="bg1"/>
                </a:solidFill>
                <a:latin typeface="Comic Sans MS" panose="030F0702030302020204" pitchFamily="66" charset="0"/>
              </a:rPr>
              <a:t>What this means: out of every 100 candidates genuinely looking for a new job, the model correctly flags about 76 of them. Just over half of flagged candidates turn out to be false alarms, so the model works best for ranking and prioritizing, not as a hard yes/no decision.</a:t>
            </a:r>
          </a:p>
        </p:txBody>
      </p:sp>
      <p:sp>
        <p:nvSpPr>
          <p:cNvPr id="9" name="TextBox 9">
            <a:extLst>
              <a:ext uri="{FF2B5EF4-FFF2-40B4-BE49-F238E27FC236}">
                <a16:creationId xmlns:a16="http://schemas.microsoft.com/office/drawing/2014/main" id="{0BEB912C-0C6E-BBD8-E1DE-40EE0A02A7A8}"/>
              </a:ext>
            </a:extLst>
          </p:cNvPr>
          <p:cNvSpPr txBox="1"/>
          <p:nvPr/>
        </p:nvSpPr>
        <p:spPr>
          <a:xfrm>
            <a:off x="1875190" y="1028700"/>
            <a:ext cx="5658673" cy="1795363"/>
          </a:xfrm>
          <a:prstGeom prst="rect">
            <a:avLst/>
          </a:prstGeom>
        </p:spPr>
        <p:txBody>
          <a:bodyPr lIns="0" tIns="0" rIns="0" bIns="0" rtlCol="0" anchor="t">
            <a:spAutoFit/>
          </a:bodyPr>
          <a:lstStyle/>
          <a:p>
            <a:pPr algn="ctr">
              <a:lnSpc>
                <a:spcPts val="7000"/>
              </a:lnSpc>
            </a:pPr>
            <a:r>
              <a:rPr lang="en-US" sz="6000" dirty="0">
                <a:solidFill>
                  <a:srgbClr val="CAE8FF"/>
                </a:solidFill>
                <a:latin typeface="HK Grotesk Bold" panose="020B0604020202020204" charset="0"/>
              </a:rPr>
              <a:t>Final Model Performance</a:t>
            </a:r>
            <a:endParaRPr lang="en-US" sz="5400" b="1" spc="400" dirty="0">
              <a:solidFill>
                <a:srgbClr val="CAE8FF"/>
              </a:solidFill>
              <a:latin typeface="HK Grotesk Bold" panose="020B0604020202020204" charset="0"/>
              <a:ea typeface="HK Grotesk Bold"/>
              <a:cs typeface="HK Grotesk Bold"/>
              <a:sym typeface="HK Grotesk Bold"/>
            </a:endParaRPr>
          </a:p>
        </p:txBody>
      </p:sp>
    </p:spTree>
    <p:extLst>
      <p:ext uri="{BB962C8B-B14F-4D97-AF65-F5344CB8AC3E}">
        <p14:creationId xmlns:p14="http://schemas.microsoft.com/office/powerpoint/2010/main" val="21695449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6" name="TextBox 6"/>
          <p:cNvSpPr txBox="1"/>
          <p:nvPr/>
        </p:nvSpPr>
        <p:spPr>
          <a:xfrm>
            <a:off x="3938068" y="1319657"/>
            <a:ext cx="10411864" cy="880882"/>
          </a:xfrm>
          <a:prstGeom prst="rect">
            <a:avLst/>
          </a:prstGeom>
        </p:spPr>
        <p:txBody>
          <a:bodyPr wrap="square" lIns="0" tIns="0" rIns="0" bIns="0" rtlCol="0" anchor="t">
            <a:spAutoFit/>
          </a:bodyPr>
          <a:lstStyle/>
          <a:p>
            <a:pPr algn="ctr">
              <a:lnSpc>
                <a:spcPts val="7000"/>
              </a:lnSpc>
            </a:pPr>
            <a:r>
              <a:rPr lang="en-US" sz="5400" dirty="0">
                <a:solidFill>
                  <a:srgbClr val="CAE8FF"/>
                </a:solidFill>
                <a:latin typeface="HK Grotesk Bold" panose="020B0604020202020204" charset="0"/>
              </a:rPr>
              <a:t>What Drives the Predictions</a:t>
            </a:r>
            <a:endParaRPr lang="en-US" sz="5000" b="1" spc="400" dirty="0">
              <a:solidFill>
                <a:srgbClr val="CAE8FF"/>
              </a:solidFill>
              <a:latin typeface="HK Grotesk Bold" panose="020B0604020202020204" charset="0"/>
              <a:ea typeface="HK Grotesk Bold"/>
              <a:cs typeface="HK Grotesk Bold"/>
              <a:sym typeface="HK Grotesk Bold"/>
            </a:endParaRPr>
          </a:p>
        </p:txBody>
      </p:sp>
      <p:grpSp>
        <p:nvGrpSpPr>
          <p:cNvPr id="7" name="Group 7"/>
          <p:cNvGrpSpPr/>
          <p:nvPr/>
        </p:nvGrpSpPr>
        <p:grpSpPr>
          <a:xfrm>
            <a:off x="1290008" y="3490733"/>
            <a:ext cx="11966252" cy="1444607"/>
            <a:chOff x="0" y="0"/>
            <a:chExt cx="3151606" cy="688302"/>
          </a:xfrm>
        </p:grpSpPr>
        <p:sp>
          <p:nvSpPr>
            <p:cNvPr id="8" name="Freeform 8"/>
            <p:cNvSpPr/>
            <p:nvPr/>
          </p:nvSpPr>
          <p:spPr>
            <a:xfrm>
              <a:off x="0" y="0"/>
              <a:ext cx="3151605" cy="688302"/>
            </a:xfrm>
            <a:custGeom>
              <a:avLst/>
              <a:gdLst/>
              <a:ahLst/>
              <a:cxnLst/>
              <a:rect l="l" t="t" r="r" b="b"/>
              <a:pathLst>
                <a:path w="3151605" h="688302">
                  <a:moveTo>
                    <a:pt x="21350" y="0"/>
                  </a:moveTo>
                  <a:lnTo>
                    <a:pt x="3130255" y="0"/>
                  </a:lnTo>
                  <a:cubicBezTo>
                    <a:pt x="3135918" y="0"/>
                    <a:pt x="3141348" y="2249"/>
                    <a:pt x="3145352" y="6253"/>
                  </a:cubicBezTo>
                  <a:cubicBezTo>
                    <a:pt x="3149356" y="10257"/>
                    <a:pt x="3151605" y="15688"/>
                    <a:pt x="3151605" y="21350"/>
                  </a:cubicBezTo>
                  <a:lnTo>
                    <a:pt x="3151605" y="666952"/>
                  </a:lnTo>
                  <a:cubicBezTo>
                    <a:pt x="3151605" y="678743"/>
                    <a:pt x="3142047" y="688302"/>
                    <a:pt x="3130255" y="688302"/>
                  </a:cubicBezTo>
                  <a:lnTo>
                    <a:pt x="21350" y="688302"/>
                  </a:lnTo>
                  <a:cubicBezTo>
                    <a:pt x="9559" y="688302"/>
                    <a:pt x="0" y="678743"/>
                    <a:pt x="0" y="666952"/>
                  </a:cubicBezTo>
                  <a:lnTo>
                    <a:pt x="0" y="21350"/>
                  </a:lnTo>
                  <a:cubicBezTo>
                    <a:pt x="0" y="9559"/>
                    <a:pt x="9559" y="0"/>
                    <a:pt x="21350"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9" name="TextBox 9"/>
            <p:cNvSpPr txBox="1"/>
            <p:nvPr/>
          </p:nvSpPr>
          <p:spPr>
            <a:xfrm>
              <a:off x="0" y="-38100"/>
              <a:ext cx="3151606" cy="726402"/>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644051" y="3842111"/>
            <a:ext cx="10937875" cy="738664"/>
          </a:xfrm>
          <a:prstGeom prst="rect">
            <a:avLst/>
          </a:prstGeom>
        </p:spPr>
        <p:txBody>
          <a:bodyPr lIns="0" tIns="0" rIns="0" bIns="0" rtlCol="0" anchor="t">
            <a:spAutoFit/>
          </a:bodyPr>
          <a:lstStyle/>
          <a:p>
            <a:pPr marL="457200" lvl="0" indent="-457200">
              <a:buFont typeface="+mj-lt"/>
              <a:buAutoNum type="arabicPeriod"/>
            </a:pPr>
            <a:r>
              <a:rPr lang="en-US" sz="2400" dirty="0">
                <a:solidFill>
                  <a:schemeClr val="bg1"/>
                </a:solidFill>
                <a:latin typeface="Comic Sans MS" panose="030F0702030302020204" pitchFamily="66" charset="0"/>
              </a:rPr>
              <a:t>City development index: the strongest single signal. Candidates from less-developed cities are far more likely to be job-hunting.</a:t>
            </a:r>
          </a:p>
        </p:txBody>
      </p:sp>
      <p:grpSp>
        <p:nvGrpSpPr>
          <p:cNvPr id="11" name="Group 11"/>
          <p:cNvGrpSpPr/>
          <p:nvPr/>
        </p:nvGrpSpPr>
        <p:grpSpPr>
          <a:xfrm>
            <a:off x="4264348" y="7402769"/>
            <a:ext cx="11966252" cy="1372279"/>
            <a:chOff x="0" y="0"/>
            <a:chExt cx="3151606" cy="688302"/>
          </a:xfrm>
        </p:grpSpPr>
        <p:sp>
          <p:nvSpPr>
            <p:cNvPr id="12" name="Freeform 12"/>
            <p:cNvSpPr/>
            <p:nvPr/>
          </p:nvSpPr>
          <p:spPr>
            <a:xfrm>
              <a:off x="0" y="0"/>
              <a:ext cx="3151605" cy="688302"/>
            </a:xfrm>
            <a:custGeom>
              <a:avLst/>
              <a:gdLst/>
              <a:ahLst/>
              <a:cxnLst/>
              <a:rect l="l" t="t" r="r" b="b"/>
              <a:pathLst>
                <a:path w="3151605" h="688302">
                  <a:moveTo>
                    <a:pt x="21350" y="0"/>
                  </a:moveTo>
                  <a:lnTo>
                    <a:pt x="3130255" y="0"/>
                  </a:lnTo>
                  <a:cubicBezTo>
                    <a:pt x="3135918" y="0"/>
                    <a:pt x="3141348" y="2249"/>
                    <a:pt x="3145352" y="6253"/>
                  </a:cubicBezTo>
                  <a:cubicBezTo>
                    <a:pt x="3149356" y="10257"/>
                    <a:pt x="3151605" y="15688"/>
                    <a:pt x="3151605" y="21350"/>
                  </a:cubicBezTo>
                  <a:lnTo>
                    <a:pt x="3151605" y="666952"/>
                  </a:lnTo>
                  <a:cubicBezTo>
                    <a:pt x="3151605" y="678743"/>
                    <a:pt x="3142047" y="688302"/>
                    <a:pt x="3130255" y="688302"/>
                  </a:cubicBezTo>
                  <a:lnTo>
                    <a:pt x="21350" y="688302"/>
                  </a:lnTo>
                  <a:cubicBezTo>
                    <a:pt x="9559" y="688302"/>
                    <a:pt x="0" y="678743"/>
                    <a:pt x="0" y="666952"/>
                  </a:cubicBezTo>
                  <a:lnTo>
                    <a:pt x="0" y="21350"/>
                  </a:lnTo>
                  <a:cubicBezTo>
                    <a:pt x="0" y="9559"/>
                    <a:pt x="9559" y="0"/>
                    <a:pt x="21350"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13" name="TextBox 13"/>
            <p:cNvSpPr txBox="1"/>
            <p:nvPr/>
          </p:nvSpPr>
          <p:spPr>
            <a:xfrm>
              <a:off x="0" y="-38100"/>
              <a:ext cx="3151606" cy="72640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4778536" y="7759825"/>
            <a:ext cx="10937875" cy="740395"/>
          </a:xfrm>
          <a:prstGeom prst="rect">
            <a:avLst/>
          </a:prstGeom>
        </p:spPr>
        <p:txBody>
          <a:bodyPr lIns="0" tIns="0" rIns="0" bIns="0" rtlCol="0" anchor="t">
            <a:spAutoFit/>
          </a:bodyPr>
          <a:lstStyle/>
          <a:p>
            <a:pPr>
              <a:lnSpc>
                <a:spcPts val="2940"/>
              </a:lnSpc>
            </a:pPr>
            <a:r>
              <a:rPr lang="en-US" sz="2400" dirty="0">
                <a:solidFill>
                  <a:schemeClr val="bg1"/>
                </a:solidFill>
                <a:latin typeface="Comic Sans MS" panose="030F0702030302020204" pitchFamily="66" charset="0"/>
              </a:rPr>
              <a:t>3. Education level: job-change rate drops steadily as education level rises, from primary school through to a PhD.</a:t>
            </a:r>
            <a:endParaRPr lang="en-US" sz="2100" b="1" dirty="0">
              <a:solidFill>
                <a:schemeClr val="bg1"/>
              </a:solidFill>
              <a:latin typeface="Comic Sans MS" panose="030F0702030302020204" pitchFamily="66" charset="0"/>
              <a:ea typeface="HK Grotesk Medium"/>
              <a:cs typeface="HK Grotesk Medium"/>
              <a:sym typeface="HK Grotesk Medium"/>
            </a:endParaRPr>
          </a:p>
        </p:txBody>
      </p:sp>
      <p:sp>
        <p:nvSpPr>
          <p:cNvPr id="16" name="TextBox 10">
            <a:extLst>
              <a:ext uri="{FF2B5EF4-FFF2-40B4-BE49-F238E27FC236}">
                <a16:creationId xmlns:a16="http://schemas.microsoft.com/office/drawing/2014/main" id="{44E80974-9598-F7FC-0FE1-04FD65201052}"/>
              </a:ext>
            </a:extLst>
          </p:cNvPr>
          <p:cNvSpPr txBox="1"/>
          <p:nvPr/>
        </p:nvSpPr>
        <p:spPr>
          <a:xfrm>
            <a:off x="3118808" y="5721876"/>
            <a:ext cx="10937875" cy="738664"/>
          </a:xfrm>
          <a:prstGeom prst="rect">
            <a:avLst/>
          </a:prstGeom>
        </p:spPr>
        <p:txBody>
          <a:bodyPr lIns="0" tIns="0" rIns="0" bIns="0" rtlCol="0" anchor="t">
            <a:spAutoFit/>
          </a:bodyPr>
          <a:lstStyle/>
          <a:p>
            <a:pPr lvl="0"/>
            <a:r>
              <a:rPr lang="en-US" sz="2400" dirty="0">
                <a:solidFill>
                  <a:schemeClr val="bg1"/>
                </a:solidFill>
                <a:latin typeface="Comic Sans MS" panose="030F0702030302020204" pitchFamily="66" charset="0"/>
              </a:rPr>
              <a:t>2. Relevant experience: candidates without relevant data science experience show a clearly higher job-change rate.</a:t>
            </a:r>
          </a:p>
        </p:txBody>
      </p:sp>
      <p:grpSp>
        <p:nvGrpSpPr>
          <p:cNvPr id="19" name="Group 11">
            <a:extLst>
              <a:ext uri="{FF2B5EF4-FFF2-40B4-BE49-F238E27FC236}">
                <a16:creationId xmlns:a16="http://schemas.microsoft.com/office/drawing/2014/main" id="{E7B80893-8BFA-2360-3D8A-7F94F0414268}"/>
              </a:ext>
            </a:extLst>
          </p:cNvPr>
          <p:cNvGrpSpPr/>
          <p:nvPr/>
        </p:nvGrpSpPr>
        <p:grpSpPr>
          <a:xfrm>
            <a:off x="2801776" y="5450413"/>
            <a:ext cx="11966252" cy="1372279"/>
            <a:chOff x="0" y="0"/>
            <a:chExt cx="3151606" cy="688302"/>
          </a:xfrm>
        </p:grpSpPr>
        <p:sp>
          <p:nvSpPr>
            <p:cNvPr id="20" name="Freeform 12">
              <a:extLst>
                <a:ext uri="{FF2B5EF4-FFF2-40B4-BE49-F238E27FC236}">
                  <a16:creationId xmlns:a16="http://schemas.microsoft.com/office/drawing/2014/main" id="{64E91B4D-3BFF-B069-19D8-68DFDF8A9CC6}"/>
                </a:ext>
              </a:extLst>
            </p:cNvPr>
            <p:cNvSpPr/>
            <p:nvPr/>
          </p:nvSpPr>
          <p:spPr>
            <a:xfrm>
              <a:off x="0" y="0"/>
              <a:ext cx="3151605" cy="688302"/>
            </a:xfrm>
            <a:custGeom>
              <a:avLst/>
              <a:gdLst/>
              <a:ahLst/>
              <a:cxnLst/>
              <a:rect l="l" t="t" r="r" b="b"/>
              <a:pathLst>
                <a:path w="3151605" h="688302">
                  <a:moveTo>
                    <a:pt x="21350" y="0"/>
                  </a:moveTo>
                  <a:lnTo>
                    <a:pt x="3130255" y="0"/>
                  </a:lnTo>
                  <a:cubicBezTo>
                    <a:pt x="3135918" y="0"/>
                    <a:pt x="3141348" y="2249"/>
                    <a:pt x="3145352" y="6253"/>
                  </a:cubicBezTo>
                  <a:cubicBezTo>
                    <a:pt x="3149356" y="10257"/>
                    <a:pt x="3151605" y="15688"/>
                    <a:pt x="3151605" y="21350"/>
                  </a:cubicBezTo>
                  <a:lnTo>
                    <a:pt x="3151605" y="666952"/>
                  </a:lnTo>
                  <a:cubicBezTo>
                    <a:pt x="3151605" y="678743"/>
                    <a:pt x="3142047" y="688302"/>
                    <a:pt x="3130255" y="688302"/>
                  </a:cubicBezTo>
                  <a:lnTo>
                    <a:pt x="21350" y="688302"/>
                  </a:lnTo>
                  <a:cubicBezTo>
                    <a:pt x="9559" y="688302"/>
                    <a:pt x="0" y="678743"/>
                    <a:pt x="0" y="666952"/>
                  </a:cubicBezTo>
                  <a:lnTo>
                    <a:pt x="0" y="21350"/>
                  </a:lnTo>
                  <a:cubicBezTo>
                    <a:pt x="0" y="9559"/>
                    <a:pt x="9559" y="0"/>
                    <a:pt x="21350"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21" name="TextBox 13">
              <a:extLst>
                <a:ext uri="{FF2B5EF4-FFF2-40B4-BE49-F238E27FC236}">
                  <a16:creationId xmlns:a16="http://schemas.microsoft.com/office/drawing/2014/main" id="{45BF9BD3-C28D-90D9-BC60-F49B44BC0992}"/>
                </a:ext>
              </a:extLst>
            </p:cNvPr>
            <p:cNvSpPr txBox="1"/>
            <p:nvPr/>
          </p:nvSpPr>
          <p:spPr>
            <a:xfrm>
              <a:off x="0" y="-38100"/>
              <a:ext cx="3151606" cy="726402"/>
            </a:xfrm>
            <a:prstGeom prst="rect">
              <a:avLst/>
            </a:prstGeom>
          </p:spPr>
          <p:txBody>
            <a:bodyPr lIns="50800" tIns="50800" rIns="50800" bIns="50800" rtlCol="0" anchor="ctr"/>
            <a:lstStyle/>
            <a:p>
              <a:pPr algn="ctr">
                <a:lnSpc>
                  <a:spcPts val="2659"/>
                </a:lnSpc>
                <a:spcBef>
                  <a:spcPct val="0"/>
                </a:spcBef>
              </a:pPr>
              <a:endParaRPr/>
            </a:p>
          </p:txBody>
        </p:sp>
      </p:grpSp>
      <p:sp>
        <p:nvSpPr>
          <p:cNvPr id="23" name="Freeform 4">
            <a:extLst>
              <a:ext uri="{FF2B5EF4-FFF2-40B4-BE49-F238E27FC236}">
                <a16:creationId xmlns:a16="http://schemas.microsoft.com/office/drawing/2014/main" id="{34B45FA5-263C-375A-DAE1-292064F2215B}"/>
              </a:ext>
            </a:extLst>
          </p:cNvPr>
          <p:cNvSpPr/>
          <p:nvPr/>
        </p:nvSpPr>
        <p:spPr>
          <a:xfrm rot="3086283" flipV="1">
            <a:off x="7612545" y="-1713267"/>
            <a:ext cx="7480507" cy="3194316"/>
          </a:xfrm>
          <a:custGeom>
            <a:avLst/>
            <a:gdLst/>
            <a:ahLst/>
            <a:cxnLst/>
            <a:rect l="l" t="t" r="r" b="b"/>
            <a:pathLst>
              <a:path w="7480507" h="3194316">
                <a:moveTo>
                  <a:pt x="0" y="3194316"/>
                </a:moveTo>
                <a:lnTo>
                  <a:pt x="7480507" y="3194316"/>
                </a:lnTo>
                <a:lnTo>
                  <a:pt x="7480507" y="0"/>
                </a:lnTo>
                <a:lnTo>
                  <a:pt x="0" y="0"/>
                </a:lnTo>
                <a:lnTo>
                  <a:pt x="0" y="3194316"/>
                </a:lnTo>
                <a:close/>
              </a:path>
            </a:pathLst>
          </a:custGeom>
          <a:blipFill>
            <a:blip r:embed="rId2"/>
            <a:stretch>
              <a:fillRect/>
            </a:stretch>
          </a:blipFill>
        </p:spPr>
        <p:txBody>
          <a:bodyPr/>
          <a:lstStyle/>
          <a:p>
            <a:endParaRPr lang="en-US"/>
          </a:p>
        </p:txBody>
      </p:sp>
      <p:sp>
        <p:nvSpPr>
          <p:cNvPr id="25" name="Freeform 2">
            <a:extLst>
              <a:ext uri="{FF2B5EF4-FFF2-40B4-BE49-F238E27FC236}">
                <a16:creationId xmlns:a16="http://schemas.microsoft.com/office/drawing/2014/main" id="{987D5ED1-9020-CA0D-2726-92FF8BEBA2C5}"/>
              </a:ext>
            </a:extLst>
          </p:cNvPr>
          <p:cNvSpPr/>
          <p:nvPr/>
        </p:nvSpPr>
        <p:spPr>
          <a:xfrm>
            <a:off x="-685800" y="6286500"/>
            <a:ext cx="4051960" cy="4149598"/>
          </a:xfrm>
          <a:custGeom>
            <a:avLst/>
            <a:gdLst/>
            <a:ahLst/>
            <a:cxnLst/>
            <a:rect l="l" t="t" r="r" b="b"/>
            <a:pathLst>
              <a:path w="4051960" h="4149598">
                <a:moveTo>
                  <a:pt x="0" y="0"/>
                </a:moveTo>
                <a:lnTo>
                  <a:pt x="4051960" y="0"/>
                </a:lnTo>
                <a:lnTo>
                  <a:pt x="4051960" y="4149598"/>
                </a:lnTo>
                <a:lnTo>
                  <a:pt x="0" y="4149598"/>
                </a:lnTo>
                <a:lnTo>
                  <a:pt x="0" y="0"/>
                </a:lnTo>
                <a:close/>
              </a:path>
            </a:pathLst>
          </a:custGeom>
          <a:blipFill>
            <a:blip r:embed="rId3"/>
            <a:stretch>
              <a:fillRect/>
            </a:stretch>
          </a:blipFill>
        </p:spPr>
        <p:txBody>
          <a:bodyPr/>
          <a:lstStyle/>
          <a:p>
            <a:endParaRPr lang="en-US" dirty="0"/>
          </a:p>
        </p:txBody>
      </p:sp>
      <p:sp>
        <p:nvSpPr>
          <p:cNvPr id="27" name="Freeform 3">
            <a:extLst>
              <a:ext uri="{FF2B5EF4-FFF2-40B4-BE49-F238E27FC236}">
                <a16:creationId xmlns:a16="http://schemas.microsoft.com/office/drawing/2014/main" id="{7C1FA63C-0192-75E9-8596-B7BE0C978FD7}"/>
              </a:ext>
            </a:extLst>
          </p:cNvPr>
          <p:cNvSpPr/>
          <p:nvPr/>
        </p:nvSpPr>
        <p:spPr>
          <a:xfrm rot="19430737">
            <a:off x="14627946" y="6673555"/>
            <a:ext cx="6483335" cy="3971643"/>
          </a:xfrm>
          <a:custGeom>
            <a:avLst/>
            <a:gdLst/>
            <a:ahLst/>
            <a:cxnLst/>
            <a:rect l="l" t="t" r="r" b="b"/>
            <a:pathLst>
              <a:path w="6483335" h="3971643">
                <a:moveTo>
                  <a:pt x="0" y="0"/>
                </a:moveTo>
                <a:lnTo>
                  <a:pt x="6483335" y="0"/>
                </a:lnTo>
                <a:lnTo>
                  <a:pt x="6483335" y="3971643"/>
                </a:lnTo>
                <a:lnTo>
                  <a:pt x="0" y="3971643"/>
                </a:lnTo>
                <a:lnTo>
                  <a:pt x="0" y="0"/>
                </a:lnTo>
                <a:close/>
              </a:path>
            </a:pathLst>
          </a:custGeom>
          <a:blipFill>
            <a:blip r:embed="rId4"/>
            <a:stretch>
              <a:fillRect/>
            </a:stretch>
          </a:blipFill>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4" name="Group 4"/>
          <p:cNvGrpSpPr/>
          <p:nvPr/>
        </p:nvGrpSpPr>
        <p:grpSpPr>
          <a:xfrm>
            <a:off x="3164131" y="1896366"/>
            <a:ext cx="6182170" cy="1792375"/>
            <a:chOff x="0" y="0"/>
            <a:chExt cx="1628226" cy="792951"/>
          </a:xfrm>
        </p:grpSpPr>
        <p:sp>
          <p:nvSpPr>
            <p:cNvPr id="5" name="Freeform 5"/>
            <p:cNvSpPr/>
            <p:nvPr/>
          </p:nvSpPr>
          <p:spPr>
            <a:xfrm>
              <a:off x="0" y="0"/>
              <a:ext cx="1628226" cy="792951"/>
            </a:xfrm>
            <a:custGeom>
              <a:avLst/>
              <a:gdLst/>
              <a:ahLst/>
              <a:cxnLst/>
              <a:rect l="l" t="t" r="r" b="b"/>
              <a:pathLst>
                <a:path w="1628226" h="792951">
                  <a:moveTo>
                    <a:pt x="41326" y="0"/>
                  </a:moveTo>
                  <a:lnTo>
                    <a:pt x="1586900" y="0"/>
                  </a:lnTo>
                  <a:cubicBezTo>
                    <a:pt x="1609724" y="0"/>
                    <a:pt x="1628226" y="18502"/>
                    <a:pt x="1628226" y="41326"/>
                  </a:cubicBezTo>
                  <a:lnTo>
                    <a:pt x="1628226" y="751626"/>
                  </a:lnTo>
                  <a:cubicBezTo>
                    <a:pt x="1628226" y="762586"/>
                    <a:pt x="1623872" y="773097"/>
                    <a:pt x="1616122" y="780847"/>
                  </a:cubicBezTo>
                  <a:cubicBezTo>
                    <a:pt x="1608372" y="788597"/>
                    <a:pt x="1597860" y="792951"/>
                    <a:pt x="1586900" y="792951"/>
                  </a:cubicBezTo>
                  <a:lnTo>
                    <a:pt x="41326" y="792951"/>
                  </a:lnTo>
                  <a:cubicBezTo>
                    <a:pt x="30366" y="792951"/>
                    <a:pt x="19854" y="788597"/>
                    <a:pt x="12104" y="780847"/>
                  </a:cubicBezTo>
                  <a:cubicBezTo>
                    <a:pt x="4354" y="773097"/>
                    <a:pt x="0" y="762586"/>
                    <a:pt x="0" y="751626"/>
                  </a:cubicBezTo>
                  <a:lnTo>
                    <a:pt x="0" y="41326"/>
                  </a:lnTo>
                  <a:cubicBezTo>
                    <a:pt x="0" y="30366"/>
                    <a:pt x="4354" y="19854"/>
                    <a:pt x="12104" y="12104"/>
                  </a:cubicBezTo>
                  <a:cubicBezTo>
                    <a:pt x="19854" y="4354"/>
                    <a:pt x="30366" y="0"/>
                    <a:pt x="41326"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6" name="TextBox 6"/>
            <p:cNvSpPr txBox="1"/>
            <p:nvPr/>
          </p:nvSpPr>
          <p:spPr>
            <a:xfrm>
              <a:off x="0" y="-38100"/>
              <a:ext cx="1628226" cy="831051"/>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3429778" y="2213650"/>
            <a:ext cx="5650875" cy="1231106"/>
          </a:xfrm>
          <a:prstGeom prst="rect">
            <a:avLst/>
          </a:prstGeom>
        </p:spPr>
        <p:txBody>
          <a:bodyPr lIns="0" tIns="0" rIns="0" bIns="0" rtlCol="0" anchor="t">
            <a:spAutoFit/>
          </a:bodyPr>
          <a:lstStyle/>
          <a:p>
            <a:pPr marL="342900" indent="-342900" algn="just">
              <a:lnSpc>
                <a:spcPts val="2379"/>
              </a:lnSpc>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Prioritize outreach: rank incoming candidates by probability of job-hunting so recruiters focus on the ones most likely to convert.</a:t>
            </a:r>
            <a:endParaRPr lang="en-US" sz="2400" b="1" dirty="0">
              <a:solidFill>
                <a:schemeClr val="bg1"/>
              </a:solidFill>
              <a:latin typeface="Times New Roman" panose="02020603050405020304" pitchFamily="18" charset="0"/>
              <a:ea typeface="HK Grotesk Medium"/>
              <a:cs typeface="Times New Roman" panose="02020603050405020304" pitchFamily="18" charset="0"/>
              <a:sym typeface="HK Grotesk Medium"/>
            </a:endParaRPr>
          </a:p>
        </p:txBody>
      </p:sp>
      <p:grpSp>
        <p:nvGrpSpPr>
          <p:cNvPr id="8" name="Group 8"/>
          <p:cNvGrpSpPr/>
          <p:nvPr/>
        </p:nvGrpSpPr>
        <p:grpSpPr>
          <a:xfrm>
            <a:off x="7686230" y="4011509"/>
            <a:ext cx="6182170" cy="1792374"/>
            <a:chOff x="0" y="0"/>
            <a:chExt cx="1628226" cy="792951"/>
          </a:xfrm>
        </p:grpSpPr>
        <p:sp>
          <p:nvSpPr>
            <p:cNvPr id="9" name="Freeform 9"/>
            <p:cNvSpPr/>
            <p:nvPr/>
          </p:nvSpPr>
          <p:spPr>
            <a:xfrm>
              <a:off x="0" y="0"/>
              <a:ext cx="1628226" cy="792951"/>
            </a:xfrm>
            <a:custGeom>
              <a:avLst/>
              <a:gdLst/>
              <a:ahLst/>
              <a:cxnLst/>
              <a:rect l="l" t="t" r="r" b="b"/>
              <a:pathLst>
                <a:path w="1628226" h="792951">
                  <a:moveTo>
                    <a:pt x="41326" y="0"/>
                  </a:moveTo>
                  <a:lnTo>
                    <a:pt x="1586900" y="0"/>
                  </a:lnTo>
                  <a:cubicBezTo>
                    <a:pt x="1609724" y="0"/>
                    <a:pt x="1628226" y="18502"/>
                    <a:pt x="1628226" y="41326"/>
                  </a:cubicBezTo>
                  <a:lnTo>
                    <a:pt x="1628226" y="751626"/>
                  </a:lnTo>
                  <a:cubicBezTo>
                    <a:pt x="1628226" y="762586"/>
                    <a:pt x="1623872" y="773097"/>
                    <a:pt x="1616122" y="780847"/>
                  </a:cubicBezTo>
                  <a:cubicBezTo>
                    <a:pt x="1608372" y="788597"/>
                    <a:pt x="1597860" y="792951"/>
                    <a:pt x="1586900" y="792951"/>
                  </a:cubicBezTo>
                  <a:lnTo>
                    <a:pt x="41326" y="792951"/>
                  </a:lnTo>
                  <a:cubicBezTo>
                    <a:pt x="30366" y="792951"/>
                    <a:pt x="19854" y="788597"/>
                    <a:pt x="12104" y="780847"/>
                  </a:cubicBezTo>
                  <a:cubicBezTo>
                    <a:pt x="4354" y="773097"/>
                    <a:pt x="0" y="762586"/>
                    <a:pt x="0" y="751626"/>
                  </a:cubicBezTo>
                  <a:lnTo>
                    <a:pt x="0" y="41326"/>
                  </a:lnTo>
                  <a:cubicBezTo>
                    <a:pt x="0" y="30366"/>
                    <a:pt x="4354" y="19854"/>
                    <a:pt x="12104" y="12104"/>
                  </a:cubicBezTo>
                  <a:cubicBezTo>
                    <a:pt x="19854" y="4354"/>
                    <a:pt x="30366" y="0"/>
                    <a:pt x="41326"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10" name="TextBox 10"/>
            <p:cNvSpPr txBox="1"/>
            <p:nvPr/>
          </p:nvSpPr>
          <p:spPr>
            <a:xfrm>
              <a:off x="0" y="-38100"/>
              <a:ext cx="1628226" cy="831051"/>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3347808" y="6464316"/>
            <a:ext cx="5650875" cy="935962"/>
          </a:xfrm>
          <a:prstGeom prst="rect">
            <a:avLst/>
          </a:prstGeom>
        </p:spPr>
        <p:txBody>
          <a:bodyPr lIns="0" tIns="0" rIns="0" bIns="0" rtlCol="0" anchor="t">
            <a:spAutoFit/>
          </a:bodyPr>
          <a:lstStyle/>
          <a:p>
            <a:pPr marL="342900" indent="-342900" algn="just">
              <a:lnSpc>
                <a:spcPts val="2379"/>
              </a:lnSpc>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Reduce wasted spend: cut time and training budget spent chasing candidates who were never going to switch jobs.</a:t>
            </a:r>
            <a:endParaRPr lang="en-US" sz="2400" b="1" dirty="0">
              <a:solidFill>
                <a:schemeClr val="bg1"/>
              </a:solidFill>
              <a:latin typeface="Times New Roman" panose="02020603050405020304" pitchFamily="18" charset="0"/>
              <a:ea typeface="HK Grotesk Medium"/>
              <a:cs typeface="Times New Roman" panose="02020603050405020304" pitchFamily="18" charset="0"/>
              <a:sym typeface="HK Grotesk Medium"/>
            </a:endParaRPr>
          </a:p>
        </p:txBody>
      </p:sp>
      <p:grpSp>
        <p:nvGrpSpPr>
          <p:cNvPr id="12" name="Group 12"/>
          <p:cNvGrpSpPr/>
          <p:nvPr/>
        </p:nvGrpSpPr>
        <p:grpSpPr>
          <a:xfrm>
            <a:off x="3164131" y="6117660"/>
            <a:ext cx="6182170" cy="1792375"/>
            <a:chOff x="0" y="0"/>
            <a:chExt cx="1628226" cy="792951"/>
          </a:xfrm>
        </p:grpSpPr>
        <p:sp>
          <p:nvSpPr>
            <p:cNvPr id="13" name="Freeform 13"/>
            <p:cNvSpPr/>
            <p:nvPr/>
          </p:nvSpPr>
          <p:spPr>
            <a:xfrm>
              <a:off x="0" y="0"/>
              <a:ext cx="1628226" cy="792951"/>
            </a:xfrm>
            <a:custGeom>
              <a:avLst/>
              <a:gdLst/>
              <a:ahLst/>
              <a:cxnLst/>
              <a:rect l="l" t="t" r="r" b="b"/>
              <a:pathLst>
                <a:path w="1628226" h="792951">
                  <a:moveTo>
                    <a:pt x="41326" y="0"/>
                  </a:moveTo>
                  <a:lnTo>
                    <a:pt x="1586900" y="0"/>
                  </a:lnTo>
                  <a:cubicBezTo>
                    <a:pt x="1609724" y="0"/>
                    <a:pt x="1628226" y="18502"/>
                    <a:pt x="1628226" y="41326"/>
                  </a:cubicBezTo>
                  <a:lnTo>
                    <a:pt x="1628226" y="751626"/>
                  </a:lnTo>
                  <a:cubicBezTo>
                    <a:pt x="1628226" y="762586"/>
                    <a:pt x="1623872" y="773097"/>
                    <a:pt x="1616122" y="780847"/>
                  </a:cubicBezTo>
                  <a:cubicBezTo>
                    <a:pt x="1608372" y="788597"/>
                    <a:pt x="1597860" y="792951"/>
                    <a:pt x="1586900" y="792951"/>
                  </a:cubicBezTo>
                  <a:lnTo>
                    <a:pt x="41326" y="792951"/>
                  </a:lnTo>
                  <a:cubicBezTo>
                    <a:pt x="30366" y="792951"/>
                    <a:pt x="19854" y="788597"/>
                    <a:pt x="12104" y="780847"/>
                  </a:cubicBezTo>
                  <a:cubicBezTo>
                    <a:pt x="4354" y="773097"/>
                    <a:pt x="0" y="762586"/>
                    <a:pt x="0" y="751626"/>
                  </a:cubicBezTo>
                  <a:lnTo>
                    <a:pt x="0" y="41326"/>
                  </a:lnTo>
                  <a:cubicBezTo>
                    <a:pt x="0" y="30366"/>
                    <a:pt x="4354" y="19854"/>
                    <a:pt x="12104" y="12104"/>
                  </a:cubicBezTo>
                  <a:cubicBezTo>
                    <a:pt x="19854" y="4354"/>
                    <a:pt x="30366" y="0"/>
                    <a:pt x="41326"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14" name="TextBox 14"/>
            <p:cNvSpPr txBox="1"/>
            <p:nvPr/>
          </p:nvSpPr>
          <p:spPr>
            <a:xfrm>
              <a:off x="0" y="-38100"/>
              <a:ext cx="1628226" cy="831051"/>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8210994" y="4328793"/>
            <a:ext cx="5650875" cy="1107996"/>
          </a:xfrm>
          <a:prstGeom prst="rect">
            <a:avLst/>
          </a:prstGeom>
        </p:spPr>
        <p:txBody>
          <a:bodyPr lIns="0" tIns="0" rIns="0" bIns="0" rtlCol="0" anchor="t">
            <a:spAutoFit/>
          </a:bodyPr>
          <a:lstStyle/>
          <a:p>
            <a:pPr marL="342900" lvl="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Plan resources: estimate how many candidates in a cohort are genuinely job-hunting and budget accordingly.</a:t>
            </a:r>
          </a:p>
        </p:txBody>
      </p:sp>
      <p:grpSp>
        <p:nvGrpSpPr>
          <p:cNvPr id="16" name="Group 16"/>
          <p:cNvGrpSpPr/>
          <p:nvPr/>
        </p:nvGrpSpPr>
        <p:grpSpPr>
          <a:xfrm>
            <a:off x="7686230" y="8230513"/>
            <a:ext cx="6182170" cy="1744721"/>
            <a:chOff x="0" y="0"/>
            <a:chExt cx="1628226" cy="792951"/>
          </a:xfrm>
        </p:grpSpPr>
        <p:sp>
          <p:nvSpPr>
            <p:cNvPr id="17" name="Freeform 17"/>
            <p:cNvSpPr/>
            <p:nvPr/>
          </p:nvSpPr>
          <p:spPr>
            <a:xfrm>
              <a:off x="0" y="0"/>
              <a:ext cx="1628226" cy="792951"/>
            </a:xfrm>
            <a:custGeom>
              <a:avLst/>
              <a:gdLst/>
              <a:ahLst/>
              <a:cxnLst/>
              <a:rect l="l" t="t" r="r" b="b"/>
              <a:pathLst>
                <a:path w="1628226" h="792951">
                  <a:moveTo>
                    <a:pt x="41326" y="0"/>
                  </a:moveTo>
                  <a:lnTo>
                    <a:pt x="1586900" y="0"/>
                  </a:lnTo>
                  <a:cubicBezTo>
                    <a:pt x="1609724" y="0"/>
                    <a:pt x="1628226" y="18502"/>
                    <a:pt x="1628226" y="41326"/>
                  </a:cubicBezTo>
                  <a:lnTo>
                    <a:pt x="1628226" y="751626"/>
                  </a:lnTo>
                  <a:cubicBezTo>
                    <a:pt x="1628226" y="762586"/>
                    <a:pt x="1623872" y="773097"/>
                    <a:pt x="1616122" y="780847"/>
                  </a:cubicBezTo>
                  <a:cubicBezTo>
                    <a:pt x="1608372" y="788597"/>
                    <a:pt x="1597860" y="792951"/>
                    <a:pt x="1586900" y="792951"/>
                  </a:cubicBezTo>
                  <a:lnTo>
                    <a:pt x="41326" y="792951"/>
                  </a:lnTo>
                  <a:cubicBezTo>
                    <a:pt x="30366" y="792951"/>
                    <a:pt x="19854" y="788597"/>
                    <a:pt x="12104" y="780847"/>
                  </a:cubicBezTo>
                  <a:cubicBezTo>
                    <a:pt x="4354" y="773097"/>
                    <a:pt x="0" y="762586"/>
                    <a:pt x="0" y="751626"/>
                  </a:cubicBezTo>
                  <a:lnTo>
                    <a:pt x="0" y="41326"/>
                  </a:lnTo>
                  <a:cubicBezTo>
                    <a:pt x="0" y="30366"/>
                    <a:pt x="4354" y="19854"/>
                    <a:pt x="12104" y="12104"/>
                  </a:cubicBezTo>
                  <a:cubicBezTo>
                    <a:pt x="19854" y="4354"/>
                    <a:pt x="30366" y="0"/>
                    <a:pt x="41326"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18" name="TextBox 18"/>
            <p:cNvSpPr txBox="1"/>
            <p:nvPr/>
          </p:nvSpPr>
          <p:spPr>
            <a:xfrm>
              <a:off x="0" y="-38100"/>
              <a:ext cx="1628226" cy="831051"/>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9"/>
          <p:cNvSpPr txBox="1"/>
          <p:nvPr/>
        </p:nvSpPr>
        <p:spPr>
          <a:xfrm>
            <a:off x="7951877" y="8547796"/>
            <a:ext cx="5650875" cy="1107996"/>
          </a:xfrm>
          <a:prstGeom prst="rect">
            <a:avLst/>
          </a:prstGeom>
        </p:spPr>
        <p:txBody>
          <a:bodyPr lIns="0" tIns="0" rIns="0" bIns="0" rtlCol="0" anchor="t">
            <a:spAutoFit/>
          </a:bodyPr>
          <a:lstStyle/>
          <a:p>
            <a:pPr marL="342900" lvl="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Repeatable pipeline: the saved model scores any new batch of candidates the same way, with no manual rework.</a:t>
            </a:r>
          </a:p>
        </p:txBody>
      </p:sp>
      <p:sp>
        <p:nvSpPr>
          <p:cNvPr id="20" name="TextBox 20"/>
          <p:cNvSpPr txBox="1"/>
          <p:nvPr/>
        </p:nvSpPr>
        <p:spPr>
          <a:xfrm>
            <a:off x="2992145" y="482484"/>
            <a:ext cx="11966252" cy="926985"/>
          </a:xfrm>
          <a:prstGeom prst="rect">
            <a:avLst/>
          </a:prstGeom>
        </p:spPr>
        <p:txBody>
          <a:bodyPr lIns="0" tIns="0" rIns="0" bIns="0" rtlCol="0" anchor="t">
            <a:spAutoFit/>
          </a:bodyPr>
          <a:lstStyle/>
          <a:p>
            <a:pPr algn="ctr">
              <a:lnSpc>
                <a:spcPts val="7000"/>
              </a:lnSpc>
            </a:pPr>
            <a:r>
              <a:rPr lang="en-US" sz="6600" b="1" spc="400" dirty="0">
                <a:solidFill>
                  <a:srgbClr val="CAE8FF"/>
                </a:solidFill>
                <a:latin typeface="HK Grotesk Bold"/>
                <a:ea typeface="HK Grotesk Bold"/>
                <a:cs typeface="HK Grotesk Bold"/>
                <a:sym typeface="HK Grotesk Bold"/>
              </a:rPr>
              <a:t>Business Impact</a:t>
            </a:r>
          </a:p>
        </p:txBody>
      </p:sp>
      <p:sp>
        <p:nvSpPr>
          <p:cNvPr id="22" name="Freeform 2">
            <a:extLst>
              <a:ext uri="{FF2B5EF4-FFF2-40B4-BE49-F238E27FC236}">
                <a16:creationId xmlns:a16="http://schemas.microsoft.com/office/drawing/2014/main" id="{1F1AE79A-F045-F910-B8B2-B5A1401D8542}"/>
              </a:ext>
            </a:extLst>
          </p:cNvPr>
          <p:cNvSpPr/>
          <p:nvPr/>
        </p:nvSpPr>
        <p:spPr>
          <a:xfrm>
            <a:off x="-1905949" y="6315357"/>
            <a:ext cx="6483335" cy="3971643"/>
          </a:xfrm>
          <a:custGeom>
            <a:avLst/>
            <a:gdLst/>
            <a:ahLst/>
            <a:cxnLst/>
            <a:rect l="l" t="t" r="r" b="b"/>
            <a:pathLst>
              <a:path w="6483335" h="3971643">
                <a:moveTo>
                  <a:pt x="0" y="0"/>
                </a:moveTo>
                <a:lnTo>
                  <a:pt x="6483335" y="0"/>
                </a:lnTo>
                <a:lnTo>
                  <a:pt x="6483335" y="3971643"/>
                </a:lnTo>
                <a:lnTo>
                  <a:pt x="0" y="3971643"/>
                </a:lnTo>
                <a:lnTo>
                  <a:pt x="0" y="0"/>
                </a:lnTo>
                <a:close/>
              </a:path>
            </a:pathLst>
          </a:custGeom>
          <a:blipFill>
            <a:blip r:embed="rId2"/>
            <a:stretch>
              <a:fillRect/>
            </a:stretch>
          </a:blipFill>
        </p:spPr>
        <p:txBody>
          <a:bodyPr/>
          <a:lstStyle/>
          <a:p>
            <a:endParaRPr lang="en-US"/>
          </a:p>
        </p:txBody>
      </p:sp>
      <p:sp>
        <p:nvSpPr>
          <p:cNvPr id="24" name="Freeform 3">
            <a:extLst>
              <a:ext uri="{FF2B5EF4-FFF2-40B4-BE49-F238E27FC236}">
                <a16:creationId xmlns:a16="http://schemas.microsoft.com/office/drawing/2014/main" id="{5C2C1BBF-81E7-0C45-1D9A-F454298CD4D7}"/>
              </a:ext>
            </a:extLst>
          </p:cNvPr>
          <p:cNvSpPr/>
          <p:nvPr/>
        </p:nvSpPr>
        <p:spPr>
          <a:xfrm>
            <a:off x="-66368" y="-2740129"/>
            <a:ext cx="4051960" cy="4149598"/>
          </a:xfrm>
          <a:custGeom>
            <a:avLst/>
            <a:gdLst/>
            <a:ahLst/>
            <a:cxnLst/>
            <a:rect l="l" t="t" r="r" b="b"/>
            <a:pathLst>
              <a:path w="4051960" h="4149598">
                <a:moveTo>
                  <a:pt x="0" y="0"/>
                </a:moveTo>
                <a:lnTo>
                  <a:pt x="4051960" y="0"/>
                </a:lnTo>
                <a:lnTo>
                  <a:pt x="4051960" y="4149597"/>
                </a:lnTo>
                <a:lnTo>
                  <a:pt x="0" y="4149597"/>
                </a:lnTo>
                <a:lnTo>
                  <a:pt x="0" y="0"/>
                </a:lnTo>
                <a:close/>
              </a:path>
            </a:pathLst>
          </a:custGeom>
          <a:blipFill>
            <a:blip r:embed="rId3"/>
            <a:stretch>
              <a:fillRect/>
            </a:stretch>
          </a:blipFill>
        </p:spPr>
        <p:txBody>
          <a:bodyPr/>
          <a:lstStyle/>
          <a:p>
            <a:endParaRPr lang="en-US"/>
          </a:p>
        </p:txBody>
      </p:sp>
      <p:sp>
        <p:nvSpPr>
          <p:cNvPr id="26" name="Freeform 4">
            <a:extLst>
              <a:ext uri="{FF2B5EF4-FFF2-40B4-BE49-F238E27FC236}">
                <a16:creationId xmlns:a16="http://schemas.microsoft.com/office/drawing/2014/main" id="{3FF8C0C9-3B10-97E3-DB84-8FBBCD1B3208}"/>
              </a:ext>
            </a:extLst>
          </p:cNvPr>
          <p:cNvSpPr/>
          <p:nvPr/>
        </p:nvSpPr>
        <p:spPr>
          <a:xfrm flipH="1" flipV="1">
            <a:off x="12648425" y="-252933"/>
            <a:ext cx="6098619" cy="7395378"/>
          </a:xfrm>
          <a:custGeom>
            <a:avLst/>
            <a:gdLst/>
            <a:ahLst/>
            <a:cxnLst/>
            <a:rect l="l" t="t" r="r" b="b"/>
            <a:pathLst>
              <a:path w="6098619" h="7395378">
                <a:moveTo>
                  <a:pt x="6098620" y="7395379"/>
                </a:moveTo>
                <a:lnTo>
                  <a:pt x="0" y="7395379"/>
                </a:lnTo>
                <a:lnTo>
                  <a:pt x="0" y="0"/>
                </a:lnTo>
                <a:lnTo>
                  <a:pt x="6098620" y="0"/>
                </a:lnTo>
                <a:lnTo>
                  <a:pt x="6098620" y="7395379"/>
                </a:lnTo>
                <a:close/>
              </a:path>
            </a:pathLst>
          </a:custGeom>
          <a:blipFill>
            <a:blip r:embed="rId4"/>
            <a:stretch>
              <a:fillRect/>
            </a:stretch>
          </a:blipFill>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3" name="Group 3"/>
          <p:cNvGrpSpPr/>
          <p:nvPr/>
        </p:nvGrpSpPr>
        <p:grpSpPr>
          <a:xfrm>
            <a:off x="3047830" y="3660266"/>
            <a:ext cx="12192340" cy="1993342"/>
            <a:chOff x="0" y="0"/>
            <a:chExt cx="3211151" cy="524995"/>
          </a:xfrm>
        </p:grpSpPr>
        <p:sp>
          <p:nvSpPr>
            <p:cNvPr id="4" name="Freeform 4"/>
            <p:cNvSpPr/>
            <p:nvPr/>
          </p:nvSpPr>
          <p:spPr>
            <a:xfrm>
              <a:off x="0" y="0"/>
              <a:ext cx="3211151" cy="524995"/>
            </a:xfrm>
            <a:custGeom>
              <a:avLst/>
              <a:gdLst/>
              <a:ahLst/>
              <a:cxnLst/>
              <a:rect l="l" t="t" r="r" b="b"/>
              <a:pathLst>
                <a:path w="3211151" h="524995">
                  <a:moveTo>
                    <a:pt x="20954" y="0"/>
                  </a:moveTo>
                  <a:lnTo>
                    <a:pt x="3190197" y="0"/>
                  </a:lnTo>
                  <a:cubicBezTo>
                    <a:pt x="3195754" y="0"/>
                    <a:pt x="3201084" y="2208"/>
                    <a:pt x="3205014" y="6137"/>
                  </a:cubicBezTo>
                  <a:cubicBezTo>
                    <a:pt x="3208944" y="10067"/>
                    <a:pt x="3211151" y="15397"/>
                    <a:pt x="3211151" y="20954"/>
                  </a:cubicBezTo>
                  <a:lnTo>
                    <a:pt x="3211151" y="504041"/>
                  </a:lnTo>
                  <a:cubicBezTo>
                    <a:pt x="3211151" y="515614"/>
                    <a:pt x="3201770" y="524995"/>
                    <a:pt x="3190197" y="524995"/>
                  </a:cubicBezTo>
                  <a:lnTo>
                    <a:pt x="20954" y="524995"/>
                  </a:lnTo>
                  <a:cubicBezTo>
                    <a:pt x="9382" y="524995"/>
                    <a:pt x="0" y="515614"/>
                    <a:pt x="0" y="504041"/>
                  </a:cubicBezTo>
                  <a:lnTo>
                    <a:pt x="0" y="20954"/>
                  </a:lnTo>
                  <a:cubicBezTo>
                    <a:pt x="0" y="9382"/>
                    <a:pt x="9382" y="0"/>
                    <a:pt x="20954"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5" name="TextBox 5"/>
            <p:cNvSpPr txBox="1"/>
            <p:nvPr/>
          </p:nvSpPr>
          <p:spPr>
            <a:xfrm>
              <a:off x="0" y="-38100"/>
              <a:ext cx="3211151" cy="563095"/>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3722795" y="3855885"/>
            <a:ext cx="10842411" cy="1477328"/>
          </a:xfrm>
          <a:prstGeom prst="rect">
            <a:avLst/>
          </a:prstGeom>
        </p:spPr>
        <p:txBody>
          <a:bodyPr lIns="0" tIns="0" rIns="0" bIns="0" rtlCol="0" anchor="t">
            <a:spAutoFit/>
          </a:bodyPr>
          <a:lstStyle/>
          <a:p>
            <a:pPr rtl="0">
              <a:buNone/>
            </a:pPr>
            <a:r>
              <a:rPr lang="en-US" sz="2400" b="1" dirty="0">
                <a:solidFill>
                  <a:schemeClr val="bg1"/>
                </a:solidFill>
                <a:latin typeface="Times New Roman" panose="02020603050405020304" pitchFamily="18" charset="0"/>
                <a:cs typeface="Times New Roman" panose="02020603050405020304" pitchFamily="18" charset="0"/>
              </a:rPr>
              <a:t>Limitations:</a:t>
            </a:r>
          </a:p>
          <a:p>
            <a:pPr marL="342900" lvl="0" indent="-342900" rtl="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Heavy reliance on columns with the most missing data (</a:t>
            </a:r>
            <a:r>
              <a:rPr lang="en-US" sz="2400" dirty="0" err="1">
                <a:solidFill>
                  <a:schemeClr val="bg1"/>
                </a:solidFill>
                <a:latin typeface="Times New Roman" panose="02020603050405020304" pitchFamily="18" charset="0"/>
                <a:cs typeface="Times New Roman" panose="02020603050405020304" pitchFamily="18" charset="0"/>
              </a:rPr>
              <a:t>company_size</a:t>
            </a:r>
            <a:r>
              <a:rPr lang="en-US" sz="2400" dirty="0">
                <a:solidFill>
                  <a:schemeClr val="bg1"/>
                </a:solidFill>
                <a:latin typeface="Times New Roman" panose="02020603050405020304" pitchFamily="18" charset="0"/>
                <a:cs typeface="Times New Roman" panose="02020603050405020304" pitchFamily="18" charset="0"/>
              </a:rPr>
              <a:t>, </a:t>
            </a:r>
            <a:r>
              <a:rPr lang="en-US" sz="2400" dirty="0" err="1">
                <a:solidFill>
                  <a:schemeClr val="bg1"/>
                </a:solidFill>
                <a:latin typeface="Times New Roman" panose="02020603050405020304" pitchFamily="18" charset="0"/>
                <a:cs typeface="Times New Roman" panose="02020603050405020304" pitchFamily="18" charset="0"/>
              </a:rPr>
              <a:t>company_type</a:t>
            </a:r>
            <a:r>
              <a:rPr lang="en-US" sz="2400" dirty="0">
                <a:solidFill>
                  <a:schemeClr val="bg1"/>
                </a:solidFill>
                <a:latin typeface="Times New Roman" panose="02020603050405020304" pitchFamily="18" charset="0"/>
                <a:cs typeface="Times New Roman" panose="02020603050405020304" pitchFamily="18" charset="0"/>
              </a:rPr>
              <a:t>).</a:t>
            </a:r>
          </a:p>
          <a:p>
            <a:pPr marL="342900" lvl="0" indent="-342900" rtl="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Precision on job seekers is 55%, about half of flagged candidates are false positives.</a:t>
            </a:r>
          </a:p>
        </p:txBody>
      </p:sp>
      <p:grpSp>
        <p:nvGrpSpPr>
          <p:cNvPr id="7" name="Group 7"/>
          <p:cNvGrpSpPr/>
          <p:nvPr/>
        </p:nvGrpSpPr>
        <p:grpSpPr>
          <a:xfrm>
            <a:off x="3047830" y="5940120"/>
            <a:ext cx="12192340" cy="1993342"/>
            <a:chOff x="0" y="0"/>
            <a:chExt cx="3211151" cy="524995"/>
          </a:xfrm>
        </p:grpSpPr>
        <p:sp>
          <p:nvSpPr>
            <p:cNvPr id="8" name="Freeform 8"/>
            <p:cNvSpPr/>
            <p:nvPr/>
          </p:nvSpPr>
          <p:spPr>
            <a:xfrm>
              <a:off x="0" y="0"/>
              <a:ext cx="3211151" cy="524995"/>
            </a:xfrm>
            <a:custGeom>
              <a:avLst/>
              <a:gdLst/>
              <a:ahLst/>
              <a:cxnLst/>
              <a:rect l="l" t="t" r="r" b="b"/>
              <a:pathLst>
                <a:path w="3211151" h="524995">
                  <a:moveTo>
                    <a:pt x="20954" y="0"/>
                  </a:moveTo>
                  <a:lnTo>
                    <a:pt x="3190197" y="0"/>
                  </a:lnTo>
                  <a:cubicBezTo>
                    <a:pt x="3195754" y="0"/>
                    <a:pt x="3201084" y="2208"/>
                    <a:pt x="3205014" y="6137"/>
                  </a:cubicBezTo>
                  <a:cubicBezTo>
                    <a:pt x="3208944" y="10067"/>
                    <a:pt x="3211151" y="15397"/>
                    <a:pt x="3211151" y="20954"/>
                  </a:cubicBezTo>
                  <a:lnTo>
                    <a:pt x="3211151" y="504041"/>
                  </a:lnTo>
                  <a:cubicBezTo>
                    <a:pt x="3211151" y="515614"/>
                    <a:pt x="3201770" y="524995"/>
                    <a:pt x="3190197" y="524995"/>
                  </a:cubicBezTo>
                  <a:lnTo>
                    <a:pt x="20954" y="524995"/>
                  </a:lnTo>
                  <a:cubicBezTo>
                    <a:pt x="9382" y="524995"/>
                    <a:pt x="0" y="515614"/>
                    <a:pt x="0" y="504041"/>
                  </a:cubicBezTo>
                  <a:lnTo>
                    <a:pt x="0" y="20954"/>
                  </a:lnTo>
                  <a:cubicBezTo>
                    <a:pt x="0" y="9382"/>
                    <a:pt x="9382" y="0"/>
                    <a:pt x="20954" y="0"/>
                  </a:cubicBezTo>
                  <a:close/>
                </a:path>
              </a:pathLst>
            </a:custGeom>
            <a:solidFill>
              <a:srgbClr val="233DFF">
                <a:alpha val="11765"/>
              </a:srgbClr>
            </a:solidFill>
            <a:ln w="38100" cap="rnd">
              <a:solidFill>
                <a:srgbClr val="FFFFFF">
                  <a:alpha val="11765"/>
                </a:srgbClr>
              </a:solidFill>
              <a:prstDash val="solid"/>
              <a:round/>
            </a:ln>
          </p:spPr>
          <p:txBody>
            <a:bodyPr/>
            <a:lstStyle/>
            <a:p>
              <a:endParaRPr lang="en-US"/>
            </a:p>
          </p:txBody>
        </p:sp>
        <p:sp>
          <p:nvSpPr>
            <p:cNvPr id="9" name="TextBox 9"/>
            <p:cNvSpPr txBox="1"/>
            <p:nvPr/>
          </p:nvSpPr>
          <p:spPr>
            <a:xfrm>
              <a:off x="0" y="-38100"/>
              <a:ext cx="3211151" cy="563095"/>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3722795" y="6135738"/>
            <a:ext cx="10842411" cy="1477328"/>
          </a:xfrm>
          <a:prstGeom prst="rect">
            <a:avLst/>
          </a:prstGeom>
        </p:spPr>
        <p:txBody>
          <a:bodyPr lIns="0" tIns="0" rIns="0" bIns="0" rtlCol="0" anchor="t">
            <a:spAutoFit/>
          </a:bodyPr>
          <a:lstStyle/>
          <a:p>
            <a:r>
              <a:rPr lang="en-US" sz="2400" b="1" dirty="0">
                <a:solidFill>
                  <a:schemeClr val="bg1"/>
                </a:solidFill>
                <a:latin typeface="Times New Roman" panose="02020603050405020304" pitchFamily="18" charset="0"/>
                <a:cs typeface="Times New Roman" panose="02020603050405020304" pitchFamily="18" charset="0"/>
              </a:rPr>
              <a:t>Next steps:</a:t>
            </a:r>
          </a:p>
          <a:p>
            <a:pPr marL="342900" lvl="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Explain individual predictions with SHAP for the recruiting team.</a:t>
            </a:r>
          </a:p>
          <a:p>
            <a:pPr marL="342900" lvl="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Tune the decision threshold against real business costs, not the default 0.5.</a:t>
            </a:r>
          </a:p>
          <a:p>
            <a:pPr marL="342900" lvl="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Re-check the model as new candidate cohorts come in.</a:t>
            </a:r>
          </a:p>
        </p:txBody>
      </p:sp>
      <p:sp>
        <p:nvSpPr>
          <p:cNvPr id="11" name="TextBox 11"/>
          <p:cNvSpPr txBox="1"/>
          <p:nvPr/>
        </p:nvSpPr>
        <p:spPr>
          <a:xfrm>
            <a:off x="3047830" y="1284572"/>
            <a:ext cx="11966252" cy="863600"/>
          </a:xfrm>
          <a:prstGeom prst="rect">
            <a:avLst/>
          </a:prstGeom>
        </p:spPr>
        <p:txBody>
          <a:bodyPr lIns="0" tIns="0" rIns="0" bIns="0" rtlCol="0" anchor="t">
            <a:spAutoFit/>
          </a:bodyPr>
          <a:lstStyle/>
          <a:p>
            <a:pPr algn="ctr">
              <a:lnSpc>
                <a:spcPts val="7000"/>
              </a:lnSpc>
            </a:pPr>
            <a:r>
              <a:rPr lang="en-US" sz="5000" b="1" spc="400" dirty="0">
                <a:solidFill>
                  <a:srgbClr val="CAE8FF"/>
                </a:solidFill>
                <a:latin typeface="HK Grotesk Bold"/>
                <a:ea typeface="HK Grotesk Bold"/>
                <a:cs typeface="HK Grotesk Bold"/>
                <a:sym typeface="HK Grotesk Bold"/>
              </a:rPr>
              <a:t>Limitations &amp; Next Steps</a:t>
            </a:r>
          </a:p>
        </p:txBody>
      </p:sp>
      <p:sp>
        <p:nvSpPr>
          <p:cNvPr id="13" name="Freeform 2">
            <a:extLst>
              <a:ext uri="{FF2B5EF4-FFF2-40B4-BE49-F238E27FC236}">
                <a16:creationId xmlns:a16="http://schemas.microsoft.com/office/drawing/2014/main" id="{A25B4CAE-2E51-A36B-ADA1-35F4BFB3FA1D}"/>
              </a:ext>
            </a:extLst>
          </p:cNvPr>
          <p:cNvSpPr/>
          <p:nvPr/>
        </p:nvSpPr>
        <p:spPr>
          <a:xfrm rot="20391779">
            <a:off x="14125295" y="7092246"/>
            <a:ext cx="6483335" cy="3971643"/>
          </a:xfrm>
          <a:custGeom>
            <a:avLst/>
            <a:gdLst/>
            <a:ahLst/>
            <a:cxnLst/>
            <a:rect l="l" t="t" r="r" b="b"/>
            <a:pathLst>
              <a:path w="6483335" h="3971643">
                <a:moveTo>
                  <a:pt x="0" y="0"/>
                </a:moveTo>
                <a:lnTo>
                  <a:pt x="6483335" y="0"/>
                </a:lnTo>
                <a:lnTo>
                  <a:pt x="6483335" y="3971643"/>
                </a:lnTo>
                <a:lnTo>
                  <a:pt x="0" y="3971643"/>
                </a:lnTo>
                <a:lnTo>
                  <a:pt x="0" y="0"/>
                </a:lnTo>
                <a:close/>
              </a:path>
            </a:pathLst>
          </a:custGeom>
          <a:blipFill>
            <a:blip r:embed="rId2"/>
            <a:stretch>
              <a:fillRect/>
            </a:stretch>
          </a:blipFill>
        </p:spPr>
        <p:txBody>
          <a:bodyPr/>
          <a:lstStyle/>
          <a:p>
            <a:endParaRPr lang="en-US"/>
          </a:p>
        </p:txBody>
      </p:sp>
      <p:sp>
        <p:nvSpPr>
          <p:cNvPr id="17" name="Freeform 3">
            <a:extLst>
              <a:ext uri="{FF2B5EF4-FFF2-40B4-BE49-F238E27FC236}">
                <a16:creationId xmlns:a16="http://schemas.microsoft.com/office/drawing/2014/main" id="{E7743F3F-5F1C-C131-BD10-0E60737B5FA6}"/>
              </a:ext>
            </a:extLst>
          </p:cNvPr>
          <p:cNvSpPr/>
          <p:nvPr/>
        </p:nvSpPr>
        <p:spPr>
          <a:xfrm>
            <a:off x="-30480" y="0"/>
            <a:ext cx="4051960" cy="4149598"/>
          </a:xfrm>
          <a:custGeom>
            <a:avLst/>
            <a:gdLst/>
            <a:ahLst/>
            <a:cxnLst/>
            <a:rect l="l" t="t" r="r" b="b"/>
            <a:pathLst>
              <a:path w="4051960" h="4149598">
                <a:moveTo>
                  <a:pt x="0" y="0"/>
                </a:moveTo>
                <a:lnTo>
                  <a:pt x="4051960" y="0"/>
                </a:lnTo>
                <a:lnTo>
                  <a:pt x="4051960" y="4149597"/>
                </a:lnTo>
                <a:lnTo>
                  <a:pt x="0" y="4149597"/>
                </a:lnTo>
                <a:lnTo>
                  <a:pt x="0" y="0"/>
                </a:lnTo>
                <a:close/>
              </a:path>
            </a:pathLst>
          </a:custGeom>
          <a:blipFill>
            <a:blip r:embed="rId3"/>
            <a:stretch>
              <a:fillRect/>
            </a:stretch>
          </a:blipFill>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Freeform 2"/>
          <p:cNvSpPr/>
          <p:nvPr/>
        </p:nvSpPr>
        <p:spPr>
          <a:xfrm>
            <a:off x="-1765816" y="6925810"/>
            <a:ext cx="6483335" cy="3971643"/>
          </a:xfrm>
          <a:custGeom>
            <a:avLst/>
            <a:gdLst/>
            <a:ahLst/>
            <a:cxnLst/>
            <a:rect l="l" t="t" r="r" b="b"/>
            <a:pathLst>
              <a:path w="6483335" h="3971643">
                <a:moveTo>
                  <a:pt x="0" y="0"/>
                </a:moveTo>
                <a:lnTo>
                  <a:pt x="6483335" y="0"/>
                </a:lnTo>
                <a:lnTo>
                  <a:pt x="6483335" y="3971643"/>
                </a:lnTo>
                <a:lnTo>
                  <a:pt x="0" y="3971643"/>
                </a:lnTo>
                <a:lnTo>
                  <a:pt x="0" y="0"/>
                </a:lnTo>
                <a:close/>
              </a:path>
            </a:pathLst>
          </a:custGeom>
          <a:blipFill>
            <a:blip r:embed="rId2"/>
            <a:stretch>
              <a:fillRect/>
            </a:stretch>
          </a:blipFill>
        </p:spPr>
        <p:txBody>
          <a:bodyPr/>
          <a:lstStyle/>
          <a:p>
            <a:endParaRPr lang="en-US"/>
          </a:p>
        </p:txBody>
      </p:sp>
      <p:sp>
        <p:nvSpPr>
          <p:cNvPr id="3" name="Freeform 3"/>
          <p:cNvSpPr/>
          <p:nvPr/>
        </p:nvSpPr>
        <p:spPr>
          <a:xfrm>
            <a:off x="-512447" y="2484641"/>
            <a:ext cx="4051960" cy="4149598"/>
          </a:xfrm>
          <a:custGeom>
            <a:avLst/>
            <a:gdLst/>
            <a:ahLst/>
            <a:cxnLst/>
            <a:rect l="l" t="t" r="r" b="b"/>
            <a:pathLst>
              <a:path w="4051960" h="4149598">
                <a:moveTo>
                  <a:pt x="0" y="0"/>
                </a:moveTo>
                <a:lnTo>
                  <a:pt x="4051960" y="0"/>
                </a:lnTo>
                <a:lnTo>
                  <a:pt x="4051960" y="4149597"/>
                </a:lnTo>
                <a:lnTo>
                  <a:pt x="0" y="4149597"/>
                </a:lnTo>
                <a:lnTo>
                  <a:pt x="0" y="0"/>
                </a:lnTo>
                <a:close/>
              </a:path>
            </a:pathLst>
          </a:custGeom>
          <a:blipFill>
            <a:blip r:embed="rId3"/>
            <a:stretch>
              <a:fillRect/>
            </a:stretch>
          </a:blipFill>
        </p:spPr>
        <p:txBody>
          <a:bodyPr/>
          <a:lstStyle/>
          <a:p>
            <a:endParaRPr lang="en-US"/>
          </a:p>
        </p:txBody>
      </p:sp>
      <p:sp>
        <p:nvSpPr>
          <p:cNvPr id="4" name="Freeform 4"/>
          <p:cNvSpPr/>
          <p:nvPr/>
        </p:nvSpPr>
        <p:spPr>
          <a:xfrm flipH="1" flipV="1">
            <a:off x="-127567" y="-535075"/>
            <a:ext cx="6098619" cy="7395378"/>
          </a:xfrm>
          <a:custGeom>
            <a:avLst/>
            <a:gdLst/>
            <a:ahLst/>
            <a:cxnLst/>
            <a:rect l="l" t="t" r="r" b="b"/>
            <a:pathLst>
              <a:path w="6098619" h="7395378">
                <a:moveTo>
                  <a:pt x="6098620" y="7395379"/>
                </a:moveTo>
                <a:lnTo>
                  <a:pt x="0" y="7395379"/>
                </a:lnTo>
                <a:lnTo>
                  <a:pt x="0" y="0"/>
                </a:lnTo>
                <a:lnTo>
                  <a:pt x="6098620" y="0"/>
                </a:lnTo>
                <a:lnTo>
                  <a:pt x="6098620" y="7395379"/>
                </a:lnTo>
                <a:close/>
              </a:path>
            </a:pathLst>
          </a:custGeom>
          <a:blipFill>
            <a:blip r:embed="rId4"/>
            <a:stretch>
              <a:fillRect/>
            </a:stretch>
          </a:blipFill>
        </p:spPr>
        <p:txBody>
          <a:bodyPr/>
          <a:lstStyle/>
          <a:p>
            <a:endParaRPr lang="en-US"/>
          </a:p>
        </p:txBody>
      </p:sp>
      <p:sp>
        <p:nvSpPr>
          <p:cNvPr id="5" name="TextBox 5"/>
          <p:cNvSpPr txBox="1"/>
          <p:nvPr/>
        </p:nvSpPr>
        <p:spPr>
          <a:xfrm>
            <a:off x="2675496" y="3780540"/>
            <a:ext cx="12937008" cy="1653979"/>
          </a:xfrm>
          <a:prstGeom prst="rect">
            <a:avLst/>
          </a:prstGeom>
        </p:spPr>
        <p:txBody>
          <a:bodyPr wrap="square" lIns="0" tIns="0" rIns="0" bIns="0" rtlCol="0" anchor="t">
            <a:spAutoFit/>
          </a:bodyPr>
          <a:lstStyle/>
          <a:p>
            <a:pPr algn="ctr">
              <a:lnSpc>
                <a:spcPts val="12600"/>
              </a:lnSpc>
            </a:pPr>
            <a:r>
              <a:rPr lang="en-US" sz="11500" b="1" dirty="0">
                <a:solidFill>
                  <a:srgbClr val="CAE8FF"/>
                </a:solidFill>
                <a:latin typeface="HK Grotesk Bold"/>
                <a:ea typeface="HK Grotesk Bold"/>
                <a:cs typeface="HK Grotesk Bold"/>
                <a:sym typeface="HK Grotesk Bold"/>
              </a:rPr>
              <a:t>thank you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818</Words>
  <Application>Microsoft Office PowerPoint</Application>
  <PresentationFormat>Custom</PresentationFormat>
  <Paragraphs>66</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Comic Sans MS</vt:lpstr>
      <vt:lpstr>Calibri</vt:lpstr>
      <vt:lpstr>Times New Roman</vt:lpstr>
      <vt:lpstr>Arial</vt:lpstr>
      <vt:lpstr>Wingdings</vt:lpstr>
      <vt:lpstr>HK Grotesk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Dark Modern Data Analytics Presentation</dc:title>
  <cp:lastModifiedBy>Mina Magdy Wessa</cp:lastModifiedBy>
  <cp:revision>18</cp:revision>
  <dcterms:created xsi:type="dcterms:W3CDTF">2006-08-16T00:00:00Z</dcterms:created>
  <dcterms:modified xsi:type="dcterms:W3CDTF">2026-08-17T14:53:43Z</dcterms:modified>
  <dc:identifier>DAHSjJ3zufE</dc:identifier>
</cp:coreProperties>
</file>